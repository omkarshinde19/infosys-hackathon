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06285d966ff4dbe" /><Relationship Type="http://schemas.openxmlformats.org/officeDocument/2006/relationships/extended-properties" Target="/docProps/app.xml" Id="Rd566c2b28ce043d1" /><Relationship Type="http://schemas.openxmlformats.org/officeDocument/2006/relationships/officeDocument" Target="/ppt/presentation.xml" Id="Rff349a964242453d" /></Relationships>
</file>

<file path=ppt/presentation.xml><?xml version="1.0" encoding="utf-8"?>
<p:presentation xmlns:p="http://schemas.openxmlformats.org/presentationml/2006/main">
  <p:sldMasterIdLst>
    <p:sldMasterId xmlns:r="http://schemas.openxmlformats.org/officeDocument/2006/relationships" id="2147483648" r:id="R2904df78656d40f1"/>
  </p:sldMasterIdLst>
  <p:notesMasterIdLst>
    <p:notesMasterId xmlns:r="http://schemas.openxmlformats.org/officeDocument/2006/relationships" r:id="R3802260e0caa4527"/>
  </p:notesMasterIdLst>
  <p:sldIdLst>
    <p:sldId xmlns:r="http://schemas.openxmlformats.org/officeDocument/2006/relationships" id="256" r:id="Rc2902c090fe14fe8"/>
    <p:sldId xmlns:r="http://schemas.openxmlformats.org/officeDocument/2006/relationships" id="257" r:id="R7f0766ac70a840fe"/>
    <p:sldId xmlns:r="http://schemas.openxmlformats.org/officeDocument/2006/relationships" id="258" r:id="Ra8092fd945ee4846"/>
    <p:sldId xmlns:r="http://schemas.openxmlformats.org/officeDocument/2006/relationships" id="259" r:id="R6133b95deee0405d"/>
    <p:sldId xmlns:r="http://schemas.openxmlformats.org/officeDocument/2006/relationships" id="260" r:id="R1a26f413c8564bc2"/>
    <p:sldId xmlns:r="http://schemas.openxmlformats.org/officeDocument/2006/relationships" id="261" r:id="R76e401f99d814cfb"/>
    <p:sldId xmlns:r="http://schemas.openxmlformats.org/officeDocument/2006/relationships" id="262" r:id="R1edb596a56e443df"/>
    <p:sldId xmlns:r="http://schemas.openxmlformats.org/officeDocument/2006/relationships" id="263" r:id="Re5e34e8999e340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555821f85146fe" /><Relationship Type="http://schemas.openxmlformats.org/officeDocument/2006/relationships/slideMaster" Target="/ppt/slideMasters/slideMaster1.xml" Id="R2904df78656d40f1" /><Relationship Type="http://schemas.openxmlformats.org/officeDocument/2006/relationships/notesMaster" Target="/ppt/notesMasters/notesMaster1.xml" Id="R3802260e0caa4527" /><Relationship Type="http://schemas.openxmlformats.org/officeDocument/2006/relationships/presProps" Target="/ppt/presProps.xml" Id="R2a4929f5797f43f9" /><Relationship Type="http://schemas.openxmlformats.org/officeDocument/2006/relationships/tableStyles" Target="/ppt/tableStyles.xml" Id="R6beae95ace7848c2" /><Relationship Type="http://schemas.openxmlformats.org/officeDocument/2006/relationships/slide" Target="/ppt/slides/slide1.xml" Id="Rc2902c090fe14fe8" /><Relationship Type="http://schemas.openxmlformats.org/officeDocument/2006/relationships/slide" Target="/ppt/slides/slide2.xml" Id="R7f0766ac70a840fe" /><Relationship Type="http://schemas.openxmlformats.org/officeDocument/2006/relationships/slide" Target="/ppt/slides/slide3.xml" Id="Ra8092fd945ee4846" /><Relationship Type="http://schemas.openxmlformats.org/officeDocument/2006/relationships/slide" Target="/ppt/slides/slide4.xml" Id="R6133b95deee0405d" /><Relationship Type="http://schemas.openxmlformats.org/officeDocument/2006/relationships/slide" Target="/ppt/slides/slide5.xml" Id="R1a26f413c8564bc2" /><Relationship Type="http://schemas.openxmlformats.org/officeDocument/2006/relationships/slide" Target="/ppt/slides/slide6.xml" Id="R76e401f99d814cfb" /><Relationship Type="http://schemas.openxmlformats.org/officeDocument/2006/relationships/slide" Target="/ppt/slides/slide7.xml" Id="R1edb596a56e443df" /><Relationship Type="http://schemas.openxmlformats.org/officeDocument/2006/relationships/slide" Target="/ppt/slides/slide8.xml" Id="Re5e34e8999e340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3248899d2a4f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09f418189441ea" /><Relationship Type="http://schemas.openxmlformats.org/officeDocument/2006/relationships/notesMaster" Target="/ppt/notesMasters/notesMaster1.xml" Id="Rf0a83750e35645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6ed1c844154b9f" /><Relationship Type="http://schemas.openxmlformats.org/officeDocument/2006/relationships/notesMaster" Target="/ppt/notesMasters/notesMaster1.xml" Id="R41bf2204b5444b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53bf85b8924b86" /><Relationship Type="http://schemas.openxmlformats.org/officeDocument/2006/relationships/notesMaster" Target="/ppt/notesMasters/notesMaster1.xml" Id="R9cc7da73736644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ad51c0f9964458" /><Relationship Type="http://schemas.openxmlformats.org/officeDocument/2006/relationships/notesMaster" Target="/ppt/notesMasters/notesMaster1.xml" Id="Rfe4c28287c2f4d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c6751837d84c9b" /><Relationship Type="http://schemas.openxmlformats.org/officeDocument/2006/relationships/notesMaster" Target="/ppt/notesMasters/notesMaster1.xml" Id="R74461c774a2a44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3814fa478d4187" /><Relationship Type="http://schemas.openxmlformats.org/officeDocument/2006/relationships/notesMaster" Target="/ppt/notesMasters/notesMaster1.xml" Id="R30bfb239774947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b6c7eb3ab7496b" /><Relationship Type="http://schemas.openxmlformats.org/officeDocument/2006/relationships/notesMaster" Target="/ppt/notesMasters/notesMaster1.xml" Id="R7147e921154144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3dfd61d42e745eb" /><Relationship Type="http://schemas.openxmlformats.org/officeDocument/2006/relationships/notesMaster" Target="/ppt/notesMasters/notesMaster1.xml" Id="R6b7f55c6e87746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20 seconds: A redundant campus can still deliver poor service when its current routes cross a failed or overloaded component. NetHeal observes telemetry, detects the problem, diagnoses supported causes, chooses a permitted mitigation and measures recovery. The demonstration uses a simulated campus. The LLM explains evidence and writes incident reports.</a:t>
            </a:r>
          </a:p>
          <a:p xmlns:a="http://schemas.openxmlformats.org/drawingml/2006/main">
            <a:r>
              <a:t/>
            </a:r>
          </a:p>
          <a:p xmlns:a="http://schemas.openxmlformats.org/drawingml/2006/main">
            <a:r>
              <a:t>Sources: supplied NC-04 problem statement, config/campus.yaml, services/gateway/main.py and docs/LIMITATIONS.md.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We validate telemetry before learning a healthy reference. Median and MAD produce a robust deviation score. Isolation Forest adds a statistical opinion for ordinary resource anomalies. Explicit reachability and individual flow service checks catch failures that statistical thresholds can miss. Temporal voting prevents a single noisy observation from becoming a persistent alarm. Detection describes the symptom, and diagnosis explains the likely cause.</a:t>
            </a:r>
          </a:p>
          <a:p xmlns:a="http://schemas.openxmlformats.org/drawingml/2006/main">
            <a:r>
              <a:t/>
            </a:r>
          </a:p>
          <a:p xmlns:a="http://schemas.openxmlformats.org/drawingml/2006/main">
            <a:r>
              <a:t>Technical detail: each tick advances 0.5 modeled seconds. Initial readiness needs 60 consecutive trusted samples for the required observed entities. The robust score is z = (x − median) / max(1.4826 × MAD, metric floor). Ordinary resource alerts require z &gt; 6, Isolation Forest agreement and debounce. Most raises need 3 bad votes among 4 samples. Latency-only raises need 6 among 8. Clearing needs 6 consecutive normal observations. Later route changes can relearn selected resource references from 20 trusted samples while retaining service and hard-reachability checks. Initial learning produces no active statistical alerts and must appear as learning or unknown. An unknown fault that passes admission checks can still contaminate the reference. Optional LSTM-AE inference adds sequence evidence. The saved five-second forecaster uses its original broader training label: loss above 2% or latency above twice baseline.</a:t>
            </a:r>
          </a:p>
          <a:p xmlns:a="http://schemas.openxmlformats.org/drawingml/2006/main">
            <a:r>
              <a:t/>
            </a:r>
          </a:p>
          <a:p xmlns:a="http://schemas.openxmlformats.org/drawingml/2006/main">
            <a:r>
              <a:t>Sources: contracts/models.py, services/detector/detector.py, services/ml/forecast.py and services/ml/lstm_ae.py. Isolation Forest paper: https://cs.nju.edu.cn/zhouzh/zhouzh.files/publication/icdm08b.pdf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A failing flow tells us where service suffers. We match resource signatures and identify components on the paths of failing flows. A down link carrying failing traffic supports link failure. Optional GraphSAGE inference helps rank candidates. The controller still requires observed support before considering a repair. We show the evidence and a reason for uncertainty when observations do not explain the current symptoms.</a:t>
            </a:r>
          </a:p>
          <a:p xmlns:a="http://schemas.openxmlformats.org/drawingml/2006/main">
            <a:r>
              <a:t/>
            </a:r>
          </a:p>
          <a:p xmlns:a="http://schemas.openxmlformats.org/drawingml/2006/main">
            <a:r>
              <a:t>The rules-only rank is 0.6 × signature + 0.4 × path vote. With the GNN, it is 0.45 × signature + 0.25 × vote + 0.30 × GNN score. These are heuristic ranks. For example, signature 0.9 and three of four failing flows traversing a component give vote 0.75 and rules rank 0.84. This value is not a calibrated probability. Flapping uses a 20-tick history and at least two up/down transitions. Loss of at least 1% on an up link supports gray failure. Utilization of at least 0.8 supports congestion. A node CPU anomaly supports overload. An unreachable flow with observed healthy resources along its route can support forwarding misconfiguration. The healer requires the supported flag and a rank of at least 0.7.</a:t>
            </a:r>
          </a:p>
          <a:p xmlns:a="http://schemas.openxmlformats.org/drawingml/2006/main">
            <a:r>
              <a:t/>
            </a:r>
          </a:p>
          <a:p xmlns:a="http://schemas.openxmlformats.org/drawingml/2006/main">
            <a:r>
              <a:t>Sources: services/rca/engine.py, services/ml/gnn.py, services/ml/graph.py and services/healer/healer.py. Path-voting inspiration, 007: https://www.usenix.org/conference/nsdi18/presentation/arzani . GraphSAGE: https://arxiv.org/abs/1706.02216 . The project uses a simplified rule and does not reproduce those papers' production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to 30 seconds: The planner tests candidate repairs on a copied network. Capacity-aware joint routes and optional PPO proposals pass the same twin and policy checks. Autonomy determines whether a human must approve. Approval checks its deadline, generation, current state, evidence and a fresh prediction. We apply a permitted change and measure every affected and collateral flow. Execution or rollback failure has an explicit outcome. Later relapse clears current recovery status and permits one bounded recovery replan before escalation.</a:t>
            </a:r>
          </a:p>
          <a:p xmlns:a="http://schemas.openxmlformats.org/drawingml/2006/main">
            <a:r>
              <a:t/>
            </a:r>
          </a:p>
          <a:p xmlns:a="http://schemas.openxmlformats.org/drawingml/2006/main">
            <a:r>
              <a:t>The twin predicts six ticks, equal to three modeled seconds. Observed verification also uses six ticks. Every flow needs valid reachable evidence on every sample, mean loss below 1%, and mean latency at most 1.1 times its frozen healthy baseline. Carrying-link utilization must stay at most 85% on every sample. The legacy aggregate substitutes 1,000 ms for unreachable traffic as a scoring sentinel. Per-flow reachability distinguishes that sentinel from a measured delay. L0 alerts, L1 recommends, L2 requires approval for every action, L3 automates at most one moved flow with risk at most 0.6, and L4 automates permitted actions. A bounded 32-state beam contributes at most three extra route combinations. It does not guarantee a globally optimal allocation. A three-second verification cannot guarantee a route will remain healthy throughout a longer fault ramp.</a:t>
            </a:r>
          </a:p>
          <a:p xmlns:a="http://schemas.openxmlformats.org/drawingml/2006/main">
            <a:r>
              <a:t/>
            </a:r>
          </a:p>
          <a:p xmlns:a="http://schemas.openxmlformats.org/drawingml/2006/main">
            <a:r>
              <a:t>Sources: services/healer/healer.py, services/healer/incidents.py, config/healing.rego, services/policy.py and contracts/models.py. PPO algorithm reference: https://arxiv.org/abs/1707.06347 . The saved policy proposes constrained candidates. Its isolated training scores use a different task from operational 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We compare seven policies on the same seeded scenarios using independent network copies. We freeze the original exposed flow population and the no-healing service-impact denominator before judging repairs. A short verified repair and sustained recovery answer different questions. Sustained recovery requires all monitored services to satisfy the strict SLA on every one of the final 20 samples, equal to ten modeled seconds. We also measure collateral breaches, relapse, rollback and escalation.</a:t>
            </a:r>
          </a:p>
          <a:p xmlns:a="http://schemas.openxmlformats.org/drawingml/2006/main">
            <a:r>
              <a:t/>
            </a:r>
          </a:p>
          <a:p xmlns:a="http://schemas.openxmlformats.org/drawingml/2006/main">
            <a:r>
              <a:t>The policies are no_heal, deliberately unsafe reactive, guarded_reactive, native_shortest, twin, predictive_twin and rl. Native shortest-path failover waits for three observed hard-failure ticks and uses static base costs. It is a limited reference, not full OSPF or ECMP. The nominal suite contains 300 scenarios: 274 faults and 26 healthy controls. Of the faults, 148 harm service in the no-healing reference and form the recovery denominator. Each run lasts 60 modeled seconds after warm-up. The separate stress suite has 100 scenarios with observed Library/CS latency multiplied by 1.18 during seconds 3 to 13 and 30 to 40. The planning twin cannot see that disturbance. Its impact denominator differs, so nominal and stress percentages cannot establish a causal recovery drop. Recovery proportions have Wilson 95% intervals. Paired bootstrap comparisons resample whole scenarios 2,000 times with seed 917. MTTD and MTTR use modeled seconds and disclose successful-case denominators. Artifacts retain raw runs, source/model hashes and seeds.</a:t>
            </a:r>
          </a:p>
          <a:p xmlns:a="http://schemas.openxmlformats.org/drawingml/2006/main">
            <a:r>
              <a:t/>
            </a:r>
          </a:p>
          <a:p xmlns:a="http://schemas.openxmlformats.org/drawingml/2006/main">
            <a:r>
              <a:t>Sources: services/evaluator/harness.py, docs/EVALUATION.md, docs/evaluation.json and docs/LIMITATIONS.md.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exact counts and denominators from the saved benchmark. In this nominal suite, twin and predictive_twin each sustain recovery in 102 of 148 service-impacting fault scenarios. RL recovers 106 of 148, but records eight relapses after initially verified repair. Twin and predictive_twin record none. Recovery confidence intervals overlap, and these figures do not establish RL superiority. The unsafe reactive baseline bypasses safeguards, so its recovery percentage alone cannot establish safety. Native failover covers observed hard-link failures.</a:t>
            </a:r>
          </a:p>
          <a:p xmlns:a="http://schemas.openxmlformats.org/drawingml/2006/main">
            <a:r>
              <a:t/>
            </a:r>
          </a:p>
          <a:p xmlns:a="http://schemas.openxmlformats.org/drawingml/2006/main">
            <a:r>
              <a:t>Data source: docs/evaluation.json, generated 2026-10-07T07:04:28.959446+00:00.</a:t>
            </a:r>
          </a:p>
          <a:p xmlns:a="http://schemas.openxmlformats.org/drawingml/2006/main">
            <a:r>
              <a:t>Exact summary: {</a:t>
            </a:r>
          </a:p>
          <a:p xmlns:a="http://schemas.openxmlformats.org/drawingml/2006/main">
            <a:r>
              <a:t>  "no_heal": {</a:t>
            </a:r>
          </a:p>
          <a:p xmlns:a="http://schemas.openxmlformats.org/drawingml/2006/main">
            <a:r>
              <a:t>    "scenarios": 300,</a:t>
            </a:r>
          </a:p>
          <a:p xmlns:a="http://schemas.openxmlformats.org/drawingml/2006/main">
            <a:r>
              <a:t>    "faults": 274,</a:t>
            </a:r>
          </a:p>
          <a:p xmlns:a="http://schemas.openxmlformats.org/drawingml/2006/main">
            <a:r>
              <a:t>    "healthy": 26,</a:t>
            </a:r>
          </a:p>
          <a:p xmlns:a="http://schemas.openxmlformats.org/drawingml/2006/main">
            <a:r>
              <a:t>    "disturbance_controls": 0,</a:t>
            </a:r>
          </a:p>
          <a:p xmlns:a="http://schemas.openxmlformats.org/drawingml/2006/main">
            <a:r>
              <a:t>    "detection": {</a:t>
            </a:r>
          </a:p>
          <a:p xmlns:a="http://schemas.openxmlformats.org/drawingml/2006/main">
            <a:r>
              <a:t>      "precision": 1,</a:t>
            </a:r>
          </a:p>
          <a:p xmlns:a="http://schemas.openxmlformats.org/drawingml/2006/main">
            <a:r>
              <a:t>      "recall": 1,</a:t>
            </a:r>
          </a:p>
          <a:p xmlns:a="http://schemas.openxmlformats.org/drawingml/2006/main">
            <a:r>
              <a:t>      "f1": 1,</a:t>
            </a:r>
          </a:p>
          <a:p xmlns:a="http://schemas.openxmlformats.org/drawingml/2006/main">
            <a:r>
              <a:t>      "false_positive_rate": 0,</a:t>
            </a:r>
          </a:p>
          <a:p xmlns:a="http://schemas.openxmlformats.org/drawingml/2006/main">
            <a:r>
              <a:t>      "disturbance_control_detection_rate": null,</a:t>
            </a:r>
          </a:p>
          <a:p xmlns:a="http://schemas.openxmlformats.org/drawingml/2006/main">
            <a:r>
              <a:t>      "median_mttd_s": 1.5,</a:t>
            </a:r>
          </a:p>
          <a:p xmlns:a="http://schemas.openxmlformats.org/drawingml/2006/main">
            <a:r>
              <a:t>      "median_mttd_gradual_s": 2.2</a:t>
            </a:r>
          </a:p>
          <a:p xmlns:a="http://schemas.openxmlformats.org/drawingml/2006/main">
            <a:r>
              <a:t>    },</a:t>
            </a:r>
          </a:p>
          <a:p xmlns:a="http://schemas.openxmlformats.org/drawingml/2006/main">
            <a:r>
              <a:t>    "rca": {</a:t>
            </a:r>
          </a:p>
          <a:p xmlns:a="http://schemas.openxmlformats.org/drawingml/2006/main">
            <a:r>
              <a:t>      "top1": 0.8431,</a:t>
            </a:r>
          </a:p>
          <a:p xmlns:a="http://schemas.openxmlformats.org/drawingml/2006/main">
            <a:r>
              <a:t>      "top3": 0.8431,</a:t>
            </a:r>
          </a:p>
          <a:p xmlns:a="http://schemas.openxmlformats.org/drawingml/2006/main">
            <a:r>
              <a:t>      "voting_007_top1": 0.0328,</a:t>
            </a:r>
          </a:p>
          <a:p xmlns:a="http://schemas.openxmlformats.org/drawingml/2006/main">
            <a:r>
              <a:t>      "diagnosed_faults": 274,</a:t>
            </a:r>
          </a:p>
          <a:p xmlns:a="http://schemas.openxmlformats.org/drawingml/2006/main">
            <a:r>
              <a:t>      "coverage": 1,</a:t>
            </a:r>
          </a:p>
          <a:p xmlns:a="http://schemas.openxmlformats.org/drawingml/2006/main">
            <a:r>
              <a:t>      "top1_over_all_faults": 0.8431,</a:t>
            </a:r>
          </a:p>
          <a:p xmlns:a="http://schemas.openxmlformats.org/drawingml/2006/main">
            <a:r>
              <a:t>      "top1_given_diagnosis": 0.8431</a:t>
            </a:r>
          </a:p>
          <a:p xmlns:a="http://schemas.openxmlformats.org/drawingml/2006/main">
            <a:r>
              <a:t>    },</a:t>
            </a:r>
          </a:p>
          <a:p xmlns:a="http://schemas.openxmlformats.org/drawingml/2006/main">
            <a:r>
              <a:t>    "healing": {</a:t>
            </a:r>
          </a:p>
          <a:p xmlns:a="http://schemas.openxmlformats.org/drawingml/2006/main">
            <a:r>
              <a:t>      "sla_impacting_faults": 148,</a:t>
            </a:r>
          </a:p>
          <a:p xmlns:a="http://schemas.openxmlformats.org/drawingml/2006/main">
            <a:r>
              <a:t>      "recovered_rate": 0.0203,</a:t>
            </a:r>
          </a:p>
          <a:p xmlns:a="http://schemas.openxmlformats.org/drawingml/2006/main">
            <a:r>
              <a:t>      "recovered_rate_ci95": [</a:t>
            </a:r>
          </a:p>
          <a:p xmlns:a="http://schemas.openxmlformats.org/drawingml/2006/main">
            <a:r>
              <a:t>        0.0069,</a:t>
            </a:r>
          </a:p>
          <a:p xmlns:a="http://schemas.openxmlformats.org/drawingml/2006/main">
            <a:r>
              <a:t>        0.0579</a:t>
            </a:r>
          </a:p>
          <a:p xmlns:a="http://schemas.openxmlformats.org/drawingml/2006/main">
            <a:r>
              <a:t>      ],</a:t>
            </a:r>
          </a:p>
          <a:p xmlns:a="http://schemas.openxmlformats.org/drawingml/2006/main">
            <a:r>
              <a:t>      "recovered_faults": 3,</a:t>
            </a:r>
          </a:p>
          <a:p xmlns:a="http://schemas.openxmlformats.org/drawingml/2006/main">
            <a:r>
              <a:t>      "applied_faults": 0,</a:t>
            </a:r>
          </a:p>
          <a:p xmlns:a="http://schemas.openxmlformats.org/drawingml/2006/main">
            <a:r>
              <a:t>      "verified_faults": 0,</a:t>
            </a:r>
          </a:p>
          <a:p xmlns:a="http://schemas.openxmlformats.org/drawingml/2006/main">
            <a:r>
              <a:t>      "relapsed_faults": 0,</a:t>
            </a:r>
          </a:p>
          <a:p xmlns:a="http://schemas.openxmlformats.org/drawingml/2006/main">
            <a:r>
              <a:t>      "collateral_breach_faults": 0,</a:t>
            </a:r>
          </a:p>
          <a:p xmlns:a="http://schemas.openxmlformats.org/drawingml/2006/main">
            <a:r>
              <a:t>      "median_recovery_s": 29.5,</a:t>
            </a:r>
          </a:p>
          <a:p xmlns:a="http://schemas.openxmlformats.org/drawingml/2006/main">
            <a:r>
              <a:t>      "healed_rate": 0,</a:t>
            </a:r>
          </a:p>
          <a:p xmlns:a="http://schemas.openxmlformats.org/drawingml/2006/main">
            <a:r>
              <a:t>      "median_mttr_s": null,</a:t>
            </a:r>
          </a:p>
          <a:p xmlns:a="http://schemas.openxmlformats.org/drawingml/2006/main">
            <a:r>
              <a:t>      "rollback_rate": null,</a:t>
            </a:r>
          </a:p>
          <a:p xmlns:a="http://schemas.openxmlformats.org/drawingml/2006/main">
            <a:r>
              <a:t>      "escalated_rate": 0</a:t>
            </a:r>
          </a:p>
          <a:p xmlns:a="http://schemas.openxmlformats.org/drawingml/2006/main">
            <a:r>
              <a:t>    },</a:t>
            </a:r>
          </a:p>
          <a:p xmlns:a="http://schemas.openxmlformats.org/drawingml/2006/main">
            <a:r>
              <a:t>    "sla": {</a:t>
            </a:r>
          </a:p>
          <a:p xmlns:a="http://schemas.openxmlformats.org/drawingml/2006/main">
            <a:r>
              <a:t>      "violation_s_total": 7647,</a:t>
            </a:r>
          </a:p>
          <a:p xmlns:a="http://schemas.openxmlformats.org/drawingml/2006/main">
            <a:r>
              <a:t>      "median_violation_s": 60,</a:t>
            </a:r>
          </a:p>
          <a:p xmlns:a="http://schemas.openxmlformats.org/drawingml/2006/main">
            <a:r>
              <a:t>      "p95_latency_ms": 107.8,</a:t>
            </a:r>
          </a:p>
          <a:p xmlns:a="http://schemas.openxmlformats.org/drawingml/2006/main">
            <a:r>
              <a:t>      "median_run_p95_latency_ms": 107.8,</a:t>
            </a:r>
          </a:p>
          <a:p xmlns:a="http://schemas.openxmlformats.org/drawingml/2006/main">
            <a:r>
              <a:t>      "flow_violation_s_total": 14051.5,</a:t>
            </a:r>
          </a:p>
          <a:p xmlns:a="http://schemas.openxmlformats.org/drawingml/2006/main">
            <a:r>
              <a:t>      "collateral_violation_s_after_action": 0,</a:t>
            </a:r>
          </a:p>
          <a:p xmlns:a="http://schemas.openxmlformats.org/drawingml/2006/main">
            <a:r>
              <a:t>      "mean_loss_pct": 6.545</a:t>
            </a:r>
          </a:p>
          <a:p xmlns:a="http://schemas.openxmlformats.org/drawingml/2006/main">
            <a:r>
              <a:t>    }</a:t>
            </a:r>
          </a:p>
          <a:p xmlns:a="http://schemas.openxmlformats.org/drawingml/2006/main">
            <a:r>
              <a:t>  },</a:t>
            </a:r>
          </a:p>
          <a:p xmlns:a="http://schemas.openxmlformats.org/drawingml/2006/main">
            <a:r>
              <a:t>  "reactive": {</a:t>
            </a:r>
          </a:p>
          <a:p xmlns:a="http://schemas.openxmlformats.org/drawingml/2006/main">
            <a:r>
              <a:t>    "scenarios": 300,</a:t>
            </a:r>
          </a:p>
          <a:p xmlns:a="http://schemas.openxmlformats.org/drawingml/2006/main">
            <a:r>
              <a:t>    "faults": 274,</a:t>
            </a:r>
          </a:p>
          <a:p xmlns:a="http://schemas.openxmlformats.org/drawingml/2006/main">
            <a:r>
              <a:t>    "healthy": 26,</a:t>
            </a:r>
          </a:p>
          <a:p xmlns:a="http://schemas.openxmlformats.org/drawingml/2006/main">
            <a:r>
              <a:t>    "disturbance_controls": 0,</a:t>
            </a:r>
          </a:p>
          <a:p xmlns:a="http://schemas.openxmlformats.org/drawingml/2006/main">
            <a:r>
              <a:t>    "detection": {</a:t>
            </a:r>
          </a:p>
          <a:p xmlns:a="http://schemas.openxmlformats.org/drawingml/2006/main">
            <a:r>
              <a:t>      "precision": 1,</a:t>
            </a:r>
          </a:p>
          <a:p xmlns:a="http://schemas.openxmlformats.org/drawingml/2006/main">
            <a:r>
              <a:t>      "recall": 1,</a:t>
            </a:r>
          </a:p>
          <a:p xmlns:a="http://schemas.openxmlformats.org/drawingml/2006/main">
            <a:r>
              <a:t>      "f1": 1,</a:t>
            </a:r>
          </a:p>
          <a:p xmlns:a="http://schemas.openxmlformats.org/drawingml/2006/main">
            <a:r>
              <a:t>      "false_positive_rate": 0,</a:t>
            </a:r>
          </a:p>
          <a:p xmlns:a="http://schemas.openxmlformats.org/drawingml/2006/main">
            <a:r>
              <a:t>      "disturbance_control_detection_rate": null,</a:t>
            </a:r>
          </a:p>
          <a:p xmlns:a="http://schemas.openxmlformats.org/drawingml/2006/main">
            <a:r>
              <a:t>      "median_mttd_s": 1.5,</a:t>
            </a:r>
          </a:p>
          <a:p xmlns:a="http://schemas.openxmlformats.org/drawingml/2006/main">
            <a:r>
              <a:t>      "median_mttd_gradual_s": 2.2</a:t>
            </a:r>
          </a:p>
          <a:p xmlns:a="http://schemas.openxmlformats.org/drawingml/2006/main">
            <a:r>
              <a:t>    },</a:t>
            </a:r>
          </a:p>
          <a:p xmlns:a="http://schemas.openxmlformats.org/drawingml/2006/main">
            <a:r>
              <a:t>    "rca": {</a:t>
            </a:r>
          </a:p>
          <a:p xmlns:a="http://schemas.openxmlformats.org/drawingml/2006/main">
            <a:r>
              <a:t>      "top1": 0.8431,</a:t>
            </a:r>
          </a:p>
          <a:p xmlns:a="http://schemas.openxmlformats.org/drawingml/2006/main">
            <a:r>
              <a:t>      "top3": 0.8431,</a:t>
            </a:r>
          </a:p>
          <a:p xmlns:a="http://schemas.openxmlformats.org/drawingml/2006/main">
            <a:r>
              <a:t>      "voting_007_top1": 0.0328,</a:t>
            </a:r>
          </a:p>
          <a:p xmlns:a="http://schemas.openxmlformats.org/drawingml/2006/main">
            <a:r>
              <a:t>      "diagnosed_faults": 274,</a:t>
            </a:r>
          </a:p>
          <a:p xmlns:a="http://schemas.openxmlformats.org/drawingml/2006/main">
            <a:r>
              <a:t>      "coverage": 1,</a:t>
            </a:r>
          </a:p>
          <a:p xmlns:a="http://schemas.openxmlformats.org/drawingml/2006/main">
            <a:r>
              <a:t>      "top1_over_all_faults": 0.8431,</a:t>
            </a:r>
          </a:p>
          <a:p xmlns:a="http://schemas.openxmlformats.org/drawingml/2006/main">
            <a:r>
              <a:t>      "top1_given_diagnosis": 0.8431</a:t>
            </a:r>
          </a:p>
          <a:p xmlns:a="http://schemas.openxmlformats.org/drawingml/2006/main">
            <a:r>
              <a:t>    },</a:t>
            </a:r>
          </a:p>
          <a:p xmlns:a="http://schemas.openxmlformats.org/drawingml/2006/main">
            <a:r>
              <a:t>    "healing": {</a:t>
            </a:r>
          </a:p>
          <a:p xmlns:a="http://schemas.openxmlformats.org/drawingml/2006/main">
            <a:r>
              <a:t>      "sla_impacting_faults": 148,</a:t>
            </a:r>
          </a:p>
          <a:p xmlns:a="http://schemas.openxmlformats.org/drawingml/2006/main">
            <a:r>
              <a:t>      "recovered_rate": 0.7365,</a:t>
            </a:r>
          </a:p>
          <a:p xmlns:a="http://schemas.openxmlformats.org/drawingml/2006/main">
            <a:r>
              <a:t>      "recovered_rate_ci95": [</a:t>
            </a:r>
          </a:p>
          <a:p xmlns:a="http://schemas.openxmlformats.org/drawingml/2006/main">
            <a:r>
              <a:t>        0.6602,</a:t>
            </a:r>
          </a:p>
          <a:p xmlns:a="http://schemas.openxmlformats.org/drawingml/2006/main">
            <a:r>
              <a:t>        0.8008</a:t>
            </a:r>
          </a:p>
          <a:p xmlns:a="http://schemas.openxmlformats.org/drawingml/2006/main">
            <a:r>
              <a:t>      ],</a:t>
            </a:r>
          </a:p>
          <a:p xmlns:a="http://schemas.openxmlformats.org/drawingml/2006/main">
            <a:r>
              <a:t>      "recovered_faults": 109,</a:t>
            </a:r>
          </a:p>
          <a:p xmlns:a="http://schemas.openxmlformats.org/drawingml/2006/main">
            <a:r>
              <a:t>      "applied_faults": 106,</a:t>
            </a:r>
          </a:p>
          <a:p xmlns:a="http://schemas.openxmlformats.org/drawingml/2006/main">
            <a:r>
              <a:t>      "verified_faults": 106,</a:t>
            </a:r>
          </a:p>
          <a:p xmlns:a="http://schemas.openxmlformats.org/drawingml/2006/main">
            <a:r>
              <a:t>      "relapsed_faults": 0,</a:t>
            </a:r>
          </a:p>
          <a:p xmlns:a="http://schemas.openxmlformats.org/drawingml/2006/main">
            <a:r>
              <a:t>      "collateral_breach_faults": 0,</a:t>
            </a:r>
          </a:p>
          <a:p xmlns:a="http://schemas.openxmlformats.org/drawingml/2006/main">
            <a:r>
              <a:t>      "median_recovery_s": 1.5,</a:t>
            </a:r>
          </a:p>
          <a:p xmlns:a="http://schemas.openxmlformats.org/drawingml/2006/main">
            <a:r>
              <a:t>      "healed_rate": 0.7162,</a:t>
            </a:r>
          </a:p>
          <a:p xmlns:a="http://schemas.openxmlformats.org/drawingml/2006/main">
            <a:r>
              <a:t>      "median_mttr_s": 4.5,</a:t>
            </a:r>
          </a:p>
          <a:p xmlns:a="http://schemas.openxmlformats.org/drawingml/2006/main">
            <a:r>
              <a:t>      "rollback_rate": 0,</a:t>
            </a:r>
          </a:p>
          <a:p xmlns:a="http://schemas.openxmlformats.org/drawingml/2006/main">
            <a:r>
              <a:t>      "escalated_rate": 0.2365</a:t>
            </a:r>
          </a:p>
          <a:p xmlns:a="http://schemas.openxmlformats.org/drawingml/2006/main">
            <a:r>
              <a:t>    },</a:t>
            </a:r>
          </a:p>
          <a:p xmlns:a="http://schemas.openxmlformats.org/drawingml/2006/main">
            <a:r>
              <a:t>    "sla": {</a:t>
            </a:r>
          </a:p>
          <a:p xmlns:a="http://schemas.openxmlformats.org/drawingml/2006/main">
            <a:r>
              <a:t>      "violation_s_total": 2085.5,</a:t>
            </a:r>
          </a:p>
          <a:p xmlns:a="http://schemas.openxmlformats.org/drawingml/2006/main">
            <a:r>
              <a:t>      "median_violation_s": 1.5,</a:t>
            </a:r>
          </a:p>
          <a:p xmlns:a="http://schemas.openxmlformats.org/drawingml/2006/main">
            <a:r>
              <a:t>      "p95_latency_ms": 10.2,</a:t>
            </a:r>
          </a:p>
          <a:p xmlns:a="http://schemas.openxmlformats.org/drawingml/2006/main">
            <a:r>
              <a:t>      "median_run_p95_latency_ms": 10.2,</a:t>
            </a:r>
          </a:p>
          <a:p xmlns:a="http://schemas.openxmlformats.org/drawingml/2006/main">
            <a:r>
              <a:t>      "flow_violation_s_total": 2913,</a:t>
            </a:r>
          </a:p>
          <a:p xmlns:a="http://schemas.openxmlformats.org/drawingml/2006/main">
            <a:r>
              <a:t>      "collateral_violation_s_after_action": 0,</a:t>
            </a:r>
          </a:p>
          <a:p xmlns:a="http://schemas.openxmlformats.org/drawingml/2006/main">
            <a:r>
              <a:t>      "mean_loss_pct": 0.327</a:t>
            </a:r>
          </a:p>
          <a:p xmlns:a="http://schemas.openxmlformats.org/drawingml/2006/main">
            <a:r>
              <a:t>    }</a:t>
            </a:r>
          </a:p>
          <a:p xmlns:a="http://schemas.openxmlformats.org/drawingml/2006/main">
            <a:r>
              <a:t>  },</a:t>
            </a:r>
          </a:p>
          <a:p xmlns:a="http://schemas.openxmlformats.org/drawingml/2006/main">
            <a:r>
              <a:t>  "guarded_reactive": {</a:t>
            </a:r>
          </a:p>
          <a:p xmlns:a="http://schemas.openxmlformats.org/drawingml/2006/main">
            <a:r>
              <a:t>    "scenarios": 300,</a:t>
            </a:r>
          </a:p>
          <a:p xmlns:a="http://schemas.openxmlformats.org/drawingml/2006/main">
            <a:r>
              <a:t>    "faults": 274,</a:t>
            </a:r>
          </a:p>
          <a:p xmlns:a="http://schemas.openxmlformats.org/drawingml/2006/main">
            <a:r>
              <a:t>    "healthy": 26,</a:t>
            </a:r>
          </a:p>
          <a:p xmlns:a="http://schemas.openxmlformats.org/drawingml/2006/main">
            <a:r>
              <a:t>    "disturbance_controls": 0,</a:t>
            </a:r>
          </a:p>
          <a:p xmlns:a="http://schemas.openxmlformats.org/drawingml/2006/main">
            <a:r>
              <a:t>    "detection": {</a:t>
            </a:r>
          </a:p>
          <a:p xmlns:a="http://schemas.openxmlformats.org/drawingml/2006/main">
            <a:r>
              <a:t>      "precision": 1,</a:t>
            </a:r>
          </a:p>
          <a:p xmlns:a="http://schemas.openxmlformats.org/drawingml/2006/main">
            <a:r>
              <a:t>      "recall": 1,</a:t>
            </a:r>
          </a:p>
          <a:p xmlns:a="http://schemas.openxmlformats.org/drawingml/2006/main">
            <a:r>
              <a:t>      "f1": 1,</a:t>
            </a:r>
          </a:p>
          <a:p xmlns:a="http://schemas.openxmlformats.org/drawingml/2006/main">
            <a:r>
              <a:t>      "false_positive_rate": 0,</a:t>
            </a:r>
          </a:p>
          <a:p xmlns:a="http://schemas.openxmlformats.org/drawingml/2006/main">
            <a:r>
              <a:t>      "disturbance_control_detection_rate": null,</a:t>
            </a:r>
          </a:p>
          <a:p xmlns:a="http://schemas.openxmlformats.org/drawingml/2006/main">
            <a:r>
              <a:t>      "median_mttd_s": 1.5,</a:t>
            </a:r>
          </a:p>
          <a:p xmlns:a="http://schemas.openxmlformats.org/drawingml/2006/main">
            <a:r>
              <a:t>      "median_mttd_gradual_s": 2.2</a:t>
            </a:r>
          </a:p>
          <a:p xmlns:a="http://schemas.openxmlformats.org/drawingml/2006/main">
            <a:r>
              <a:t>    },</a:t>
            </a:r>
          </a:p>
          <a:p xmlns:a="http://schemas.openxmlformats.org/drawingml/2006/main">
            <a:r>
              <a:t>    "rca": {</a:t>
            </a:r>
          </a:p>
          <a:p xmlns:a="http://schemas.openxmlformats.org/drawingml/2006/main">
            <a:r>
              <a:t>      "top1": 0.8431,</a:t>
            </a:r>
          </a:p>
          <a:p xmlns:a="http://schemas.openxmlformats.org/drawingml/2006/main">
            <a:r>
              <a:t>      "top3": 0.8431,</a:t>
            </a:r>
          </a:p>
          <a:p xmlns:a="http://schemas.openxmlformats.org/drawingml/2006/main">
            <a:r>
              <a:t>      "voting_007_top1": 0.0328,</a:t>
            </a:r>
          </a:p>
          <a:p xmlns:a="http://schemas.openxmlformats.org/drawingml/2006/main">
            <a:r>
              <a:t>      "diagnosed_faults": 274,</a:t>
            </a:r>
          </a:p>
          <a:p xmlns:a="http://schemas.openxmlformats.org/drawingml/2006/main">
            <a:r>
              <a:t>      "coverage": 1,</a:t>
            </a:r>
          </a:p>
          <a:p xmlns:a="http://schemas.openxmlformats.org/drawingml/2006/main">
            <a:r>
              <a:t>      "top1_over_all_faults": 0.8431,</a:t>
            </a:r>
          </a:p>
          <a:p xmlns:a="http://schemas.openxmlformats.org/drawingml/2006/main">
            <a:r>
              <a:t>      "top1_given_diagnosis": 0.8431</a:t>
            </a:r>
          </a:p>
          <a:p xmlns:a="http://schemas.openxmlformats.org/drawingml/2006/main">
            <a:r>
              <a:t>    },</a:t>
            </a:r>
          </a:p>
          <a:p xmlns:a="http://schemas.openxmlformats.org/drawingml/2006/main">
            <a:r>
              <a:t>    "healing": {</a:t>
            </a:r>
          </a:p>
          <a:p xmlns:a="http://schemas.openxmlformats.org/drawingml/2006/main">
            <a:r>
              <a:t>      "sla_impacting_faults": 148,</a:t>
            </a:r>
          </a:p>
          <a:p xmlns:a="http://schemas.openxmlformats.org/drawingml/2006/main">
            <a:r>
              <a:t>      "recovered_rate": 0.6892,</a:t>
            </a:r>
          </a:p>
          <a:p xmlns:a="http://schemas.openxmlformats.org/drawingml/2006/main">
            <a:r>
              <a:t>      "recovered_rate_ci95": [</a:t>
            </a:r>
          </a:p>
          <a:p xmlns:a="http://schemas.openxmlformats.org/drawingml/2006/main">
            <a:r>
              <a:t>        0.6106,</a:t>
            </a:r>
          </a:p>
          <a:p xmlns:a="http://schemas.openxmlformats.org/drawingml/2006/main">
            <a:r>
              <a:t>        0.7582</a:t>
            </a:r>
          </a:p>
          <a:p xmlns:a="http://schemas.openxmlformats.org/drawingml/2006/main">
            <a:r>
              <a:t>      ],</a:t>
            </a:r>
          </a:p>
          <a:p xmlns:a="http://schemas.openxmlformats.org/drawingml/2006/main">
            <a:r>
              <a:t>      "recovered_faults": 102,</a:t>
            </a:r>
          </a:p>
          <a:p xmlns:a="http://schemas.openxmlformats.org/drawingml/2006/main">
            <a:r>
              <a:t>      "applied_faults": 99,</a:t>
            </a:r>
          </a:p>
          <a:p xmlns:a="http://schemas.openxmlformats.org/drawingml/2006/main">
            <a:r>
              <a:t>      "verified_faults": 99,</a:t>
            </a:r>
          </a:p>
          <a:p xmlns:a="http://schemas.openxmlformats.org/drawingml/2006/main">
            <a:r>
              <a:t>      "relapsed_faults": 0,</a:t>
            </a:r>
          </a:p>
          <a:p xmlns:a="http://schemas.openxmlformats.org/drawingml/2006/main">
            <a:r>
              <a:t>      "collateral_breach_faults": 0,</a:t>
            </a:r>
          </a:p>
          <a:p xmlns:a="http://schemas.openxmlformats.org/drawingml/2006/main">
            <a:r>
              <a:t>      "median_recovery_s": 1.5,</a:t>
            </a:r>
          </a:p>
          <a:p xmlns:a="http://schemas.openxmlformats.org/drawingml/2006/main">
            <a:r>
              <a:t>      "healed_rate": 0.6689,</a:t>
            </a:r>
          </a:p>
          <a:p xmlns:a="http://schemas.openxmlformats.org/drawingml/2006/main">
            <a:r>
              <a:t>      "median_mttr_s": 4.5,</a:t>
            </a:r>
          </a:p>
          <a:p xmlns:a="http://schemas.openxmlformats.org/drawingml/2006/main">
            <a:r>
              <a:t>      "rollback_rate": 0,</a:t>
            </a:r>
          </a:p>
          <a:p xmlns:a="http://schemas.openxmlformats.org/drawingml/2006/main">
            <a:r>
              <a:t>      "escalated_rate": 0.2838</a:t>
            </a:r>
          </a:p>
          <a:p xmlns:a="http://schemas.openxmlformats.org/drawingml/2006/main">
            <a:r>
              <a:t>    },</a:t>
            </a:r>
          </a:p>
          <a:p xmlns:a="http://schemas.openxmlformats.org/drawingml/2006/main">
            <a:r>
              <a:t>    "sla": {</a:t>
            </a:r>
          </a:p>
          <a:p xmlns:a="http://schemas.openxmlformats.org/drawingml/2006/main">
            <a:r>
              <a:t>      "violation_s_total": 2291,</a:t>
            </a:r>
          </a:p>
          <a:p xmlns:a="http://schemas.openxmlformats.org/drawingml/2006/main">
            <a:r>
              <a:t>      "median_violation_s": 1.5,</a:t>
            </a:r>
          </a:p>
          <a:p xmlns:a="http://schemas.openxmlformats.org/drawingml/2006/main">
            <a:r>
              <a:t>      "p95_latency_ms": 10.2,</a:t>
            </a:r>
          </a:p>
          <a:p xmlns:a="http://schemas.openxmlformats.org/drawingml/2006/main">
            <a:r>
              <a:t>      "median_run_p95_latency_ms": 10.2,</a:t>
            </a:r>
          </a:p>
          <a:p xmlns:a="http://schemas.openxmlformats.org/drawingml/2006/main">
            <a:r>
              <a:t>      "flow_violation_s_total": 4417,</a:t>
            </a:r>
          </a:p>
          <a:p xmlns:a="http://schemas.openxmlformats.org/drawingml/2006/main">
            <a:r>
              <a:t>      "collateral_violation_s_after_action": 0,</a:t>
            </a:r>
          </a:p>
          <a:p xmlns:a="http://schemas.openxmlformats.org/drawingml/2006/main">
            <a:r>
              <a:t>      "mean_loss_pct": 1.182</a:t>
            </a:r>
          </a:p>
          <a:p xmlns:a="http://schemas.openxmlformats.org/drawingml/2006/main">
            <a:r>
              <a:t>    }</a:t>
            </a:r>
          </a:p>
          <a:p xmlns:a="http://schemas.openxmlformats.org/drawingml/2006/main">
            <a:r>
              <a:t>  },</a:t>
            </a:r>
          </a:p>
          <a:p xmlns:a="http://schemas.openxmlformats.org/drawingml/2006/main">
            <a:r>
              <a:t>  "native_shortest": {</a:t>
            </a:r>
          </a:p>
          <a:p xmlns:a="http://schemas.openxmlformats.org/drawingml/2006/main">
            <a:r>
              <a:t>    "scenarios": 300,</a:t>
            </a:r>
          </a:p>
          <a:p xmlns:a="http://schemas.openxmlformats.org/drawingml/2006/main">
            <a:r>
              <a:t>    "faults": 274,</a:t>
            </a:r>
          </a:p>
          <a:p xmlns:a="http://schemas.openxmlformats.org/drawingml/2006/main">
            <a:r>
              <a:t>    "healthy": 26,</a:t>
            </a:r>
          </a:p>
          <a:p xmlns:a="http://schemas.openxmlformats.org/drawingml/2006/main">
            <a:r>
              <a:t>    "disturbance_controls": 0,</a:t>
            </a:r>
          </a:p>
          <a:p xmlns:a="http://schemas.openxmlformats.org/drawingml/2006/main">
            <a:r>
              <a:t>    "detection": {</a:t>
            </a:r>
          </a:p>
          <a:p xmlns:a="http://schemas.openxmlformats.org/drawingml/2006/main">
            <a:r>
              <a:t>      "precision": 1,</a:t>
            </a:r>
          </a:p>
          <a:p xmlns:a="http://schemas.openxmlformats.org/drawingml/2006/main">
            <a:r>
              <a:t>      "recall": 1,</a:t>
            </a:r>
          </a:p>
          <a:p xmlns:a="http://schemas.openxmlformats.org/drawingml/2006/main">
            <a:r>
              <a:t>      "f1": 1,</a:t>
            </a:r>
          </a:p>
          <a:p xmlns:a="http://schemas.openxmlformats.org/drawingml/2006/main">
            <a:r>
              <a:t>      "false_positive_rate": 0,</a:t>
            </a:r>
          </a:p>
          <a:p xmlns:a="http://schemas.openxmlformats.org/drawingml/2006/main">
            <a:r>
              <a:t>      "disturbance_control_detection_rate": null,</a:t>
            </a:r>
          </a:p>
          <a:p xmlns:a="http://schemas.openxmlformats.org/drawingml/2006/main">
            <a:r>
              <a:t>      "median_mttd_s": 1.5,</a:t>
            </a:r>
          </a:p>
          <a:p xmlns:a="http://schemas.openxmlformats.org/drawingml/2006/main">
            <a:r>
              <a:t>      "median_mttd_gradual_s": 2.2</a:t>
            </a:r>
          </a:p>
          <a:p xmlns:a="http://schemas.openxmlformats.org/drawingml/2006/main">
            <a:r>
              <a:t>    },</a:t>
            </a:r>
          </a:p>
          <a:p xmlns:a="http://schemas.openxmlformats.org/drawingml/2006/main">
            <a:r>
              <a:t>    "rca": {</a:t>
            </a:r>
          </a:p>
          <a:p xmlns:a="http://schemas.openxmlformats.org/drawingml/2006/main">
            <a:r>
              <a:t>      "top1": 0.8431,</a:t>
            </a:r>
          </a:p>
          <a:p xmlns:a="http://schemas.openxmlformats.org/drawingml/2006/main">
            <a:r>
              <a:t>      "top3": 0.8431,</a:t>
            </a:r>
          </a:p>
          <a:p xmlns:a="http://schemas.openxmlformats.org/drawingml/2006/main">
            <a:r>
              <a:t>      "voting_007_top1": 0.0328,</a:t>
            </a:r>
          </a:p>
          <a:p xmlns:a="http://schemas.openxmlformats.org/drawingml/2006/main">
            <a:r>
              <a:t>      "diagnosed_faults": 274,</a:t>
            </a:r>
          </a:p>
          <a:p xmlns:a="http://schemas.openxmlformats.org/drawingml/2006/main">
            <a:r>
              <a:t>      "coverage": 1,</a:t>
            </a:r>
          </a:p>
          <a:p xmlns:a="http://schemas.openxmlformats.org/drawingml/2006/main">
            <a:r>
              <a:t>      "top1_over_all_faults": 0.8431,</a:t>
            </a:r>
          </a:p>
          <a:p xmlns:a="http://schemas.openxmlformats.org/drawingml/2006/main">
            <a:r>
              <a:t>      "top1_given_diagnosis": 0.8431</a:t>
            </a:r>
          </a:p>
          <a:p xmlns:a="http://schemas.openxmlformats.org/drawingml/2006/main">
            <a:r>
              <a:t>    },</a:t>
            </a:r>
          </a:p>
          <a:p xmlns:a="http://schemas.openxmlformats.org/drawingml/2006/main">
            <a:r>
              <a:t>    "healing": {</a:t>
            </a:r>
          </a:p>
          <a:p xmlns:a="http://schemas.openxmlformats.org/drawingml/2006/main">
            <a:r>
              <a:t>      "sla_impacting_faults": 148,</a:t>
            </a:r>
          </a:p>
          <a:p xmlns:a="http://schemas.openxmlformats.org/drawingml/2006/main">
            <a:r>
              <a:t>      "recovered_rate": 0.1216,</a:t>
            </a:r>
          </a:p>
          <a:p xmlns:a="http://schemas.openxmlformats.org/drawingml/2006/main">
            <a:r>
              <a:t>      "recovered_rate_ci95": [</a:t>
            </a:r>
          </a:p>
          <a:p xmlns:a="http://schemas.openxmlformats.org/drawingml/2006/main">
            <a:r>
              <a:t>        0.0783,</a:t>
            </a:r>
          </a:p>
          <a:p xmlns:a="http://schemas.openxmlformats.org/drawingml/2006/main">
            <a:r>
              <a:t>        0.1841</a:t>
            </a:r>
          </a:p>
          <a:p xmlns:a="http://schemas.openxmlformats.org/drawingml/2006/main">
            <a:r>
              <a:t>      ],</a:t>
            </a:r>
          </a:p>
          <a:p xmlns:a="http://schemas.openxmlformats.org/drawingml/2006/main">
            <a:r>
              <a:t>      "recovered_faults": 18,</a:t>
            </a:r>
          </a:p>
          <a:p xmlns:a="http://schemas.openxmlformats.org/drawingml/2006/main">
            <a:r>
              <a:t>      "applied_faults": 27,</a:t>
            </a:r>
          </a:p>
          <a:p xmlns:a="http://schemas.openxmlformats.org/drawingml/2006/main">
            <a:r>
              <a:t>      "verified_faults": 0,</a:t>
            </a:r>
          </a:p>
          <a:p xmlns:a="http://schemas.openxmlformats.org/drawingml/2006/main">
            <a:r>
              <a:t>      "relapsed_faults": 0,</a:t>
            </a:r>
          </a:p>
          <a:p xmlns:a="http://schemas.openxmlformats.org/drawingml/2006/main">
            <a:r>
              <a:t>      "collateral_breach_faults": 0,</a:t>
            </a:r>
          </a:p>
          <a:p xmlns:a="http://schemas.openxmlformats.org/drawingml/2006/main">
            <a:r>
              <a:t>      "median_recovery_s": 1.5,</a:t>
            </a:r>
          </a:p>
          <a:p xmlns:a="http://schemas.openxmlformats.org/drawingml/2006/main">
            <a:r>
              <a:t>      "healed_rate": 0,</a:t>
            </a:r>
          </a:p>
          <a:p xmlns:a="http://schemas.openxmlformats.org/drawingml/2006/main">
            <a:r>
              <a:t>      "median_mttr_s": null,</a:t>
            </a:r>
          </a:p>
          <a:p xmlns:a="http://schemas.openxmlformats.org/drawingml/2006/main">
            <a:r>
              <a:t>      "rollback_rate": 0,</a:t>
            </a:r>
          </a:p>
          <a:p xmlns:a="http://schemas.openxmlformats.org/drawingml/2006/main">
            <a:r>
              <a:t>      "escalated_rate": 0</a:t>
            </a:r>
          </a:p>
          <a:p xmlns:a="http://schemas.openxmlformats.org/drawingml/2006/main">
            <a:r>
              <a:t>    },</a:t>
            </a:r>
          </a:p>
          <a:p xmlns:a="http://schemas.openxmlformats.org/drawingml/2006/main">
            <a:r>
              <a:t>    "sla": {</a:t>
            </a:r>
          </a:p>
          <a:p xmlns:a="http://schemas.openxmlformats.org/drawingml/2006/main">
            <a:r>
              <a:t>      "violation_s_total": 6685.5,</a:t>
            </a:r>
          </a:p>
          <a:p xmlns:a="http://schemas.openxmlformats.org/drawingml/2006/main">
            <a:r>
              <a:t>      "median_violation_s": 58,</a:t>
            </a:r>
          </a:p>
          <a:p xmlns:a="http://schemas.openxmlformats.org/drawingml/2006/main">
            <a:r>
              <a:t>      "p95_latency_ms": 15.7,</a:t>
            </a:r>
          </a:p>
          <a:p xmlns:a="http://schemas.openxmlformats.org/drawingml/2006/main">
            <a:r>
              <a:t>      "median_run_p95_latency_ms": 15.7,</a:t>
            </a:r>
          </a:p>
          <a:p xmlns:a="http://schemas.openxmlformats.org/drawingml/2006/main">
            <a:r>
              <a:t>      "flow_violation_s_total": 12140.5,</a:t>
            </a:r>
          </a:p>
          <a:p xmlns:a="http://schemas.openxmlformats.org/drawingml/2006/main">
            <a:r>
              <a:t>      "collateral_violation_s_after_action": 0,</a:t>
            </a:r>
          </a:p>
          <a:p xmlns:a="http://schemas.openxmlformats.org/drawingml/2006/main">
            <a:r>
              <a:t>      "mean_loss_pct": 4.155</a:t>
            </a:r>
          </a:p>
          <a:p xmlns:a="http://schemas.openxmlformats.org/drawingml/2006/main">
            <a:r>
              <a:t>    }</a:t>
            </a:r>
          </a:p>
          <a:p xmlns:a="http://schemas.openxmlformats.org/drawingml/2006/main">
            <a:r>
              <a:t>  },</a:t>
            </a:r>
          </a:p>
          <a:p xmlns:a="http://schemas.openxmlformats.org/drawingml/2006/main">
            <a:r>
              <a:t>  "twin": {</a:t>
            </a:r>
          </a:p>
          <a:p xmlns:a="http://schemas.openxmlformats.org/drawingml/2006/main">
            <a:r>
              <a:t>    "scenarios": 300,</a:t>
            </a:r>
          </a:p>
          <a:p xmlns:a="http://schemas.openxmlformats.org/drawingml/2006/main">
            <a:r>
              <a:t>    "faults": 274,</a:t>
            </a:r>
          </a:p>
          <a:p xmlns:a="http://schemas.openxmlformats.org/drawingml/2006/main">
            <a:r>
              <a:t>    "healthy": 26,</a:t>
            </a:r>
          </a:p>
          <a:p xmlns:a="http://schemas.openxmlformats.org/drawingml/2006/main">
            <a:r>
              <a:t>    "disturbance_controls": 0,</a:t>
            </a:r>
          </a:p>
          <a:p xmlns:a="http://schemas.openxmlformats.org/drawingml/2006/main">
            <a:r>
              <a:t>    "detection": {</a:t>
            </a:r>
          </a:p>
          <a:p xmlns:a="http://schemas.openxmlformats.org/drawingml/2006/main">
            <a:r>
              <a:t>      "precision": 1,</a:t>
            </a:r>
          </a:p>
          <a:p xmlns:a="http://schemas.openxmlformats.org/drawingml/2006/main">
            <a:r>
              <a:t>      "recall": 1,</a:t>
            </a:r>
          </a:p>
          <a:p xmlns:a="http://schemas.openxmlformats.org/drawingml/2006/main">
            <a:r>
              <a:t>      "f1": 1,</a:t>
            </a:r>
          </a:p>
          <a:p xmlns:a="http://schemas.openxmlformats.org/drawingml/2006/main">
            <a:r>
              <a:t>      "false_positive_rate": 0,</a:t>
            </a:r>
          </a:p>
          <a:p xmlns:a="http://schemas.openxmlformats.org/drawingml/2006/main">
            <a:r>
              <a:t>      "disturbance_control_detection_rate": null,</a:t>
            </a:r>
          </a:p>
          <a:p xmlns:a="http://schemas.openxmlformats.org/drawingml/2006/main">
            <a:r>
              <a:t>      "median_mttd_s": 1.5,</a:t>
            </a:r>
          </a:p>
          <a:p xmlns:a="http://schemas.openxmlformats.org/drawingml/2006/main">
            <a:r>
              <a:t>      "median_mttd_gradual_s": 2.2</a:t>
            </a:r>
          </a:p>
          <a:p xmlns:a="http://schemas.openxmlformats.org/drawingml/2006/main">
            <a:r>
              <a:t>    },</a:t>
            </a:r>
          </a:p>
          <a:p xmlns:a="http://schemas.openxmlformats.org/drawingml/2006/main">
            <a:r>
              <a:t>    "rca": {</a:t>
            </a:r>
          </a:p>
          <a:p xmlns:a="http://schemas.openxmlformats.org/drawingml/2006/main">
            <a:r>
              <a:t>      "top1": 0.8431,</a:t>
            </a:r>
          </a:p>
          <a:p xmlns:a="http://schemas.openxmlformats.org/drawingml/2006/main">
            <a:r>
              <a:t>      "top3": 0.8431,</a:t>
            </a:r>
          </a:p>
          <a:p xmlns:a="http://schemas.openxmlformats.org/drawingml/2006/main">
            <a:r>
              <a:t>      "voting_007_top1": 0.0328,</a:t>
            </a:r>
          </a:p>
          <a:p xmlns:a="http://schemas.openxmlformats.org/drawingml/2006/main">
            <a:r>
              <a:t>      "diagnosed_faults": 274,</a:t>
            </a:r>
          </a:p>
          <a:p xmlns:a="http://schemas.openxmlformats.org/drawingml/2006/main">
            <a:r>
              <a:t>      "coverage": 1,</a:t>
            </a:r>
          </a:p>
          <a:p xmlns:a="http://schemas.openxmlformats.org/drawingml/2006/main">
            <a:r>
              <a:t>      "top1_over_all_faults": 0.8431,</a:t>
            </a:r>
          </a:p>
          <a:p xmlns:a="http://schemas.openxmlformats.org/drawingml/2006/main">
            <a:r>
              <a:t>      "top1_given_diagnosis": 0.8431</a:t>
            </a:r>
          </a:p>
          <a:p xmlns:a="http://schemas.openxmlformats.org/drawingml/2006/main">
            <a:r>
              <a:t>    },</a:t>
            </a:r>
          </a:p>
          <a:p xmlns:a="http://schemas.openxmlformats.org/drawingml/2006/main">
            <a:r>
              <a:t>    "healing": {</a:t>
            </a:r>
          </a:p>
          <a:p xmlns:a="http://schemas.openxmlformats.org/drawingml/2006/main">
            <a:r>
              <a:t>      "sla_impacting_faults": 148,</a:t>
            </a:r>
          </a:p>
          <a:p xmlns:a="http://schemas.openxmlformats.org/drawingml/2006/main">
            <a:r>
              <a:t>      "recovered_rate": 0.6892,</a:t>
            </a:r>
          </a:p>
          <a:p xmlns:a="http://schemas.openxmlformats.org/drawingml/2006/main">
            <a:r>
              <a:t>      "recovered_rate_ci95": [</a:t>
            </a:r>
          </a:p>
          <a:p xmlns:a="http://schemas.openxmlformats.org/drawingml/2006/main">
            <a:r>
              <a:t>        0.6106,</a:t>
            </a:r>
          </a:p>
          <a:p xmlns:a="http://schemas.openxmlformats.org/drawingml/2006/main">
            <a:r>
              <a:t>        0.7582</a:t>
            </a:r>
          </a:p>
          <a:p xmlns:a="http://schemas.openxmlformats.org/drawingml/2006/main">
            <a:r>
              <a:t>      ],</a:t>
            </a:r>
          </a:p>
          <a:p xmlns:a="http://schemas.openxmlformats.org/drawingml/2006/main">
            <a:r>
              <a:t>      "recovered_faults": 102,</a:t>
            </a:r>
          </a:p>
          <a:p xmlns:a="http://schemas.openxmlformats.org/drawingml/2006/main">
            <a:r>
              <a:t>      "applied_faults": 99,</a:t>
            </a:r>
          </a:p>
          <a:p xmlns:a="http://schemas.openxmlformats.org/drawingml/2006/main">
            <a:r>
              <a:t>      "verified_faults": 99,</a:t>
            </a:r>
          </a:p>
          <a:p xmlns:a="http://schemas.openxmlformats.org/drawingml/2006/main">
            <a:r>
              <a:t>      "relapsed_faults": 0,</a:t>
            </a:r>
          </a:p>
          <a:p xmlns:a="http://schemas.openxmlformats.org/drawingml/2006/main">
            <a:r>
              <a:t>      "collateral_breach_faults": 0,</a:t>
            </a:r>
          </a:p>
          <a:p xmlns:a="http://schemas.openxmlformats.org/drawingml/2006/main">
            <a:r>
              <a:t>      "median_recovery_s": 1.5,</a:t>
            </a:r>
          </a:p>
          <a:p xmlns:a="http://schemas.openxmlformats.org/drawingml/2006/main">
            <a:r>
              <a:t>      "healed_rate": 0.6689,</a:t>
            </a:r>
          </a:p>
          <a:p xmlns:a="http://schemas.openxmlformats.org/drawingml/2006/main">
            <a:r>
              <a:t>      "median_mttr_s": 4.5,</a:t>
            </a:r>
          </a:p>
          <a:p xmlns:a="http://schemas.openxmlformats.org/drawingml/2006/main">
            <a:r>
              <a:t>      "rollback_rate": 0,</a:t>
            </a:r>
          </a:p>
          <a:p xmlns:a="http://schemas.openxmlformats.org/drawingml/2006/main">
            <a:r>
              <a:t>      "escalated_rate": 0.2838</a:t>
            </a:r>
          </a:p>
          <a:p xmlns:a="http://schemas.openxmlformats.org/drawingml/2006/main">
            <a:r>
              <a:t>    },</a:t>
            </a:r>
          </a:p>
          <a:p xmlns:a="http://schemas.openxmlformats.org/drawingml/2006/main">
            <a:r>
              <a:t>    "sla": {</a:t>
            </a:r>
          </a:p>
          <a:p xmlns:a="http://schemas.openxmlformats.org/drawingml/2006/main">
            <a:r>
              <a:t>      "violation_s_total": 2268,</a:t>
            </a:r>
          </a:p>
          <a:p xmlns:a="http://schemas.openxmlformats.org/drawingml/2006/main">
            <a:r>
              <a:t>      "median_violation_s": 1.5,</a:t>
            </a:r>
          </a:p>
          <a:p xmlns:a="http://schemas.openxmlformats.org/drawingml/2006/main">
            <a:r>
              <a:t>      "p95_latency_ms": 10.2,</a:t>
            </a:r>
          </a:p>
          <a:p xmlns:a="http://schemas.openxmlformats.org/drawingml/2006/main">
            <a:r>
              <a:t>      "median_run_p95_latency_ms": 10.2,</a:t>
            </a:r>
          </a:p>
          <a:p xmlns:a="http://schemas.openxmlformats.org/drawingml/2006/main">
            <a:r>
              <a:t>      "flow_violation_s_total": 4380,</a:t>
            </a:r>
          </a:p>
          <a:p xmlns:a="http://schemas.openxmlformats.org/drawingml/2006/main">
            <a:r>
              <a:t>      "collateral_violation_s_after_action": 0,</a:t>
            </a:r>
          </a:p>
          <a:p xmlns:a="http://schemas.openxmlformats.org/drawingml/2006/main">
            <a:r>
              <a:t>      "mean_loss_pct": 1.182</a:t>
            </a:r>
          </a:p>
          <a:p xmlns:a="http://schemas.openxmlformats.org/drawingml/2006/main">
            <a:r>
              <a:t>    }</a:t>
            </a:r>
          </a:p>
          <a:p xmlns:a="http://schemas.openxmlformats.org/drawingml/2006/main">
            <a:r>
              <a:t>  },</a:t>
            </a:r>
          </a:p>
          <a:p xmlns:a="http://schemas.openxmlformats.org/drawingml/2006/main">
            <a:r>
              <a:t>  "predictive_twin": {</a:t>
            </a:r>
          </a:p>
          <a:p xmlns:a="http://schemas.openxmlformats.org/drawingml/2006/main">
            <a:r>
              <a:t>    "scenarios": 300,</a:t>
            </a:r>
          </a:p>
          <a:p xmlns:a="http://schemas.openxmlformats.org/drawingml/2006/main">
            <a:r>
              <a:t>    "faults": 274,</a:t>
            </a:r>
          </a:p>
          <a:p xmlns:a="http://schemas.openxmlformats.org/drawingml/2006/main">
            <a:r>
              <a:t>    "healthy": 26,</a:t>
            </a:r>
          </a:p>
          <a:p xmlns:a="http://schemas.openxmlformats.org/drawingml/2006/main">
            <a:r>
              <a:t>    "disturbance_controls": 0,</a:t>
            </a:r>
          </a:p>
          <a:p xmlns:a="http://schemas.openxmlformats.org/drawingml/2006/main">
            <a:r>
              <a:t>    "detection": {</a:t>
            </a:r>
          </a:p>
          <a:p xmlns:a="http://schemas.openxmlformats.org/drawingml/2006/main">
            <a:r>
              <a:t>      "precision": 1,</a:t>
            </a:r>
          </a:p>
          <a:p xmlns:a="http://schemas.openxmlformats.org/drawingml/2006/main">
            <a:r>
              <a:t>      "recall": 1,</a:t>
            </a:r>
          </a:p>
          <a:p xmlns:a="http://schemas.openxmlformats.org/drawingml/2006/main">
            <a:r>
              <a:t>      "f1": 1,</a:t>
            </a:r>
          </a:p>
          <a:p xmlns:a="http://schemas.openxmlformats.org/drawingml/2006/main">
            <a:r>
              <a:t>      "false_positive_rate": 0,</a:t>
            </a:r>
          </a:p>
          <a:p xmlns:a="http://schemas.openxmlformats.org/drawingml/2006/main">
            <a:r>
              <a:t>      "disturbance_control_detection_rate": null,</a:t>
            </a:r>
          </a:p>
          <a:p xmlns:a="http://schemas.openxmlformats.org/drawingml/2006/main">
            <a:r>
              <a:t>      "median_mttd_s": 1.5,</a:t>
            </a:r>
          </a:p>
          <a:p xmlns:a="http://schemas.openxmlformats.org/drawingml/2006/main">
            <a:r>
              <a:t>      "median_mttd_gradual_s": 1.5</a:t>
            </a:r>
          </a:p>
          <a:p xmlns:a="http://schemas.openxmlformats.org/drawingml/2006/main">
            <a:r>
              <a:t>    },</a:t>
            </a:r>
          </a:p>
          <a:p xmlns:a="http://schemas.openxmlformats.org/drawingml/2006/main">
            <a:r>
              <a:t>    "rca": {</a:t>
            </a:r>
          </a:p>
          <a:p xmlns:a="http://schemas.openxmlformats.org/drawingml/2006/main">
            <a:r>
              <a:t>      "top1": 0.8431,</a:t>
            </a:r>
          </a:p>
          <a:p xmlns:a="http://schemas.openxmlformats.org/drawingml/2006/main">
            <a:r>
              <a:t>      "top3": 0.8431,</a:t>
            </a:r>
          </a:p>
          <a:p xmlns:a="http://schemas.openxmlformats.org/drawingml/2006/main">
            <a:r>
              <a:t>      "voting_007_top1": 0.0328,</a:t>
            </a:r>
          </a:p>
          <a:p xmlns:a="http://schemas.openxmlformats.org/drawingml/2006/main">
            <a:r>
              <a:t>      "diagnosed_faults": 274,</a:t>
            </a:r>
          </a:p>
          <a:p xmlns:a="http://schemas.openxmlformats.org/drawingml/2006/main">
            <a:r>
              <a:t>      "coverage": 1,</a:t>
            </a:r>
          </a:p>
          <a:p xmlns:a="http://schemas.openxmlformats.org/drawingml/2006/main">
            <a:r>
              <a:t>      "top1_over_all_faults": 0.8431,</a:t>
            </a:r>
          </a:p>
          <a:p xmlns:a="http://schemas.openxmlformats.org/drawingml/2006/main">
            <a:r>
              <a:t>      "top1_given_diagnosis": 0.8431</a:t>
            </a:r>
          </a:p>
          <a:p xmlns:a="http://schemas.openxmlformats.org/drawingml/2006/main">
            <a:r>
              <a:t>    },</a:t>
            </a:r>
          </a:p>
          <a:p xmlns:a="http://schemas.openxmlformats.org/drawingml/2006/main">
            <a:r>
              <a:t>    "healing": {</a:t>
            </a:r>
          </a:p>
          <a:p xmlns:a="http://schemas.openxmlformats.org/drawingml/2006/main">
            <a:r>
              <a:t>      "sla_impacting_faults": 148,</a:t>
            </a:r>
          </a:p>
          <a:p xmlns:a="http://schemas.openxmlformats.org/drawingml/2006/main">
            <a:r>
              <a:t>      "recovered_rate": 0.6892,</a:t>
            </a:r>
          </a:p>
          <a:p xmlns:a="http://schemas.openxmlformats.org/drawingml/2006/main">
            <a:r>
              <a:t>      "recovered_rate_ci95": [</a:t>
            </a:r>
          </a:p>
          <a:p xmlns:a="http://schemas.openxmlformats.org/drawingml/2006/main">
            <a:r>
              <a:t>        0.6106,</a:t>
            </a:r>
          </a:p>
          <a:p xmlns:a="http://schemas.openxmlformats.org/drawingml/2006/main">
            <a:r>
              <a:t>        0.7582</a:t>
            </a:r>
          </a:p>
          <a:p xmlns:a="http://schemas.openxmlformats.org/drawingml/2006/main">
            <a:r>
              <a:t>      ],</a:t>
            </a:r>
          </a:p>
          <a:p xmlns:a="http://schemas.openxmlformats.org/drawingml/2006/main">
            <a:r>
              <a:t>      "recovered_faults": 102,</a:t>
            </a:r>
          </a:p>
          <a:p xmlns:a="http://schemas.openxmlformats.org/drawingml/2006/main">
            <a:r>
              <a:t>      "applied_faults": 99,</a:t>
            </a:r>
          </a:p>
          <a:p xmlns:a="http://schemas.openxmlformats.org/drawingml/2006/main">
            <a:r>
              <a:t>      "verified_faults": 99,</a:t>
            </a:r>
          </a:p>
          <a:p xmlns:a="http://schemas.openxmlformats.org/drawingml/2006/main">
            <a:r>
              <a:t>      "relapsed_faults": 0,</a:t>
            </a:r>
          </a:p>
          <a:p xmlns:a="http://schemas.openxmlformats.org/drawingml/2006/main">
            <a:r>
              <a:t>      "collateral_breach_faults": 0,</a:t>
            </a:r>
          </a:p>
          <a:p xmlns:a="http://schemas.openxmlformats.org/drawingml/2006/main">
            <a:r>
              <a:t>      "median_recovery_s": 1.5,</a:t>
            </a:r>
          </a:p>
          <a:p xmlns:a="http://schemas.openxmlformats.org/drawingml/2006/main">
            <a:r>
              <a:t>      "healed_rate": 0.6689,</a:t>
            </a:r>
          </a:p>
          <a:p xmlns:a="http://schemas.openxmlformats.org/drawingml/2006/main">
            <a:r>
              <a:t>      "median_mttr_s": 4.5,</a:t>
            </a:r>
          </a:p>
          <a:p xmlns:a="http://schemas.openxmlformats.org/drawingml/2006/main">
            <a:r>
              <a:t>      "rollback_rate": 0,</a:t>
            </a:r>
          </a:p>
          <a:p xmlns:a="http://schemas.openxmlformats.org/drawingml/2006/main">
            <a:r>
              <a:t>      "escalated_rate": 0.2838</a:t>
            </a:r>
          </a:p>
          <a:p xmlns:a="http://schemas.openxmlformats.org/drawingml/2006/main">
            <a:r>
              <a:t>    },</a:t>
            </a:r>
          </a:p>
          <a:p xmlns:a="http://schemas.openxmlformats.org/drawingml/2006/main">
            <a:r>
              <a:t>    "sla": {</a:t>
            </a:r>
          </a:p>
          <a:p xmlns:a="http://schemas.openxmlformats.org/drawingml/2006/main">
            <a:r>
              <a:t>      "violation_s_total": 2268,</a:t>
            </a:r>
          </a:p>
          <a:p xmlns:a="http://schemas.openxmlformats.org/drawingml/2006/main">
            <a:r>
              <a:t>      "median_violation_s": 1.5,</a:t>
            </a:r>
          </a:p>
          <a:p xmlns:a="http://schemas.openxmlformats.org/drawingml/2006/main">
            <a:r>
              <a:t>      "p95_latency_ms": 10.2,</a:t>
            </a:r>
          </a:p>
          <a:p xmlns:a="http://schemas.openxmlformats.org/drawingml/2006/main">
            <a:r>
              <a:t>      "median_run_p95_latency_ms": 10.2,</a:t>
            </a:r>
          </a:p>
          <a:p xmlns:a="http://schemas.openxmlformats.org/drawingml/2006/main">
            <a:r>
              <a:t>      "flow_violation_s_total": 4380,</a:t>
            </a:r>
          </a:p>
          <a:p xmlns:a="http://schemas.openxmlformats.org/drawingml/2006/main">
            <a:r>
              <a:t>      "collateral_violation_s_after_action": 0,</a:t>
            </a:r>
          </a:p>
          <a:p xmlns:a="http://schemas.openxmlformats.org/drawingml/2006/main">
            <a:r>
              <a:t>      "mean_loss_pct": 1.182</a:t>
            </a:r>
          </a:p>
          <a:p xmlns:a="http://schemas.openxmlformats.org/drawingml/2006/main">
            <a:r>
              <a:t>    }</a:t>
            </a:r>
          </a:p>
          <a:p xmlns:a="http://schemas.openxmlformats.org/drawingml/2006/main">
            <a:r>
              <a:t>  },</a:t>
            </a:r>
          </a:p>
          <a:p xmlns:a="http://schemas.openxmlformats.org/drawingml/2006/main">
            <a:r>
              <a:t>  "rl": {</a:t>
            </a:r>
          </a:p>
          <a:p xmlns:a="http://schemas.openxmlformats.org/drawingml/2006/main">
            <a:r>
              <a:t>    "scenarios": 300,</a:t>
            </a:r>
          </a:p>
          <a:p xmlns:a="http://schemas.openxmlformats.org/drawingml/2006/main">
            <a:r>
              <a:t>    "faults": 274,</a:t>
            </a:r>
          </a:p>
          <a:p xmlns:a="http://schemas.openxmlformats.org/drawingml/2006/main">
            <a:r>
              <a:t>    "healthy": 26,</a:t>
            </a:r>
          </a:p>
          <a:p xmlns:a="http://schemas.openxmlformats.org/drawingml/2006/main">
            <a:r>
              <a:t>    "disturbance_controls": 0,</a:t>
            </a:r>
          </a:p>
          <a:p xmlns:a="http://schemas.openxmlformats.org/drawingml/2006/main">
            <a:r>
              <a:t>    "detection": {</a:t>
            </a:r>
          </a:p>
          <a:p xmlns:a="http://schemas.openxmlformats.org/drawingml/2006/main">
            <a:r>
              <a:t>      "precision": 1,</a:t>
            </a:r>
          </a:p>
          <a:p xmlns:a="http://schemas.openxmlformats.org/drawingml/2006/main">
            <a:r>
              <a:t>      "recall": 1,</a:t>
            </a:r>
          </a:p>
          <a:p xmlns:a="http://schemas.openxmlformats.org/drawingml/2006/main">
            <a:r>
              <a:t>      "f1": 1,</a:t>
            </a:r>
          </a:p>
          <a:p xmlns:a="http://schemas.openxmlformats.org/drawingml/2006/main">
            <a:r>
              <a:t>      "false_positive_rate": 0,</a:t>
            </a:r>
          </a:p>
          <a:p xmlns:a="http://schemas.openxmlformats.org/drawingml/2006/main">
            <a:r>
              <a:t>      "disturbance_control_detection_rate": null,</a:t>
            </a:r>
          </a:p>
          <a:p xmlns:a="http://schemas.openxmlformats.org/drawingml/2006/main">
            <a:r>
              <a:t>      "median_mttd_s": 1.5,</a:t>
            </a:r>
          </a:p>
          <a:p xmlns:a="http://schemas.openxmlformats.org/drawingml/2006/main">
            <a:r>
              <a:t>      "median_mttd_gradual_s": 1.5</a:t>
            </a:r>
          </a:p>
          <a:p xmlns:a="http://schemas.openxmlformats.org/drawingml/2006/main">
            <a:r>
              <a:t>    },</a:t>
            </a:r>
          </a:p>
          <a:p xmlns:a="http://schemas.openxmlformats.org/drawingml/2006/main">
            <a:r>
              <a:t>    "rca": {</a:t>
            </a:r>
          </a:p>
          <a:p xmlns:a="http://schemas.openxmlformats.org/drawingml/2006/main">
            <a:r>
              <a:t>      "top1": 0.8431,</a:t>
            </a:r>
          </a:p>
          <a:p xmlns:a="http://schemas.openxmlformats.org/drawingml/2006/main">
            <a:r>
              <a:t>      "top3": 0.8431,</a:t>
            </a:r>
          </a:p>
          <a:p xmlns:a="http://schemas.openxmlformats.org/drawingml/2006/main">
            <a:r>
              <a:t>      "voting_007_top1": 0.0328,</a:t>
            </a:r>
          </a:p>
          <a:p xmlns:a="http://schemas.openxmlformats.org/drawingml/2006/main">
            <a:r>
              <a:t>      "diagnosed_faults": 274,</a:t>
            </a:r>
          </a:p>
          <a:p xmlns:a="http://schemas.openxmlformats.org/drawingml/2006/main">
            <a:r>
              <a:t>      "coverage": 1,</a:t>
            </a:r>
          </a:p>
          <a:p xmlns:a="http://schemas.openxmlformats.org/drawingml/2006/main">
            <a:r>
              <a:t>      "top1_over_all_faults": 0.8431,</a:t>
            </a:r>
          </a:p>
          <a:p xmlns:a="http://schemas.openxmlformats.org/drawingml/2006/main">
            <a:r>
              <a:t>      "top1_given_diagnosis": 0.8431</a:t>
            </a:r>
          </a:p>
          <a:p xmlns:a="http://schemas.openxmlformats.org/drawingml/2006/main">
            <a:r>
              <a:t>    },</a:t>
            </a:r>
          </a:p>
          <a:p xmlns:a="http://schemas.openxmlformats.org/drawingml/2006/main">
            <a:r>
              <a:t>    "healing": {</a:t>
            </a:r>
          </a:p>
          <a:p xmlns:a="http://schemas.openxmlformats.org/drawingml/2006/main">
            <a:r>
              <a:t>      "sla_impacting_faults": 148,</a:t>
            </a:r>
          </a:p>
          <a:p xmlns:a="http://schemas.openxmlformats.org/drawingml/2006/main">
            <a:r>
              <a:t>      "recovered_rate": 0.7162,</a:t>
            </a:r>
          </a:p>
          <a:p xmlns:a="http://schemas.openxmlformats.org/drawingml/2006/main">
            <a:r>
              <a:t>      "recovered_rate_ci95": [</a:t>
            </a:r>
          </a:p>
          <a:p xmlns:a="http://schemas.openxmlformats.org/drawingml/2006/main">
            <a:r>
              <a:t>        0.6388,</a:t>
            </a:r>
          </a:p>
          <a:p xmlns:a="http://schemas.openxmlformats.org/drawingml/2006/main">
            <a:r>
              <a:t>        0.7827</a:t>
            </a:r>
          </a:p>
          <a:p xmlns:a="http://schemas.openxmlformats.org/drawingml/2006/main">
            <a:r>
              <a:t>      ],</a:t>
            </a:r>
          </a:p>
          <a:p xmlns:a="http://schemas.openxmlformats.org/drawingml/2006/main">
            <a:r>
              <a:t>      "recovered_faults": 106,</a:t>
            </a:r>
          </a:p>
          <a:p xmlns:a="http://schemas.openxmlformats.org/drawingml/2006/main">
            <a:r>
              <a:t>      "applied_faults": 113,</a:t>
            </a:r>
          </a:p>
          <a:p xmlns:a="http://schemas.openxmlformats.org/drawingml/2006/main">
            <a:r>
              <a:t>      "verified_faults": 113,</a:t>
            </a:r>
          </a:p>
          <a:p xmlns:a="http://schemas.openxmlformats.org/drawingml/2006/main">
            <a:r>
              <a:t>      "relapsed_faults": 8,</a:t>
            </a:r>
          </a:p>
          <a:p xmlns:a="http://schemas.openxmlformats.org/drawingml/2006/main">
            <a:r>
              <a:t>      "collateral_breach_faults": 0,</a:t>
            </a:r>
          </a:p>
          <a:p xmlns:a="http://schemas.openxmlformats.org/drawingml/2006/main">
            <a:r>
              <a:t>      "median_recovery_s": 1.5,</a:t>
            </a:r>
          </a:p>
          <a:p xmlns:a="http://schemas.openxmlformats.org/drawingml/2006/main">
            <a:r>
              <a:t>      "healed_rate": 0.7635,</a:t>
            </a:r>
          </a:p>
          <a:p xmlns:a="http://schemas.openxmlformats.org/drawingml/2006/main">
            <a:r>
              <a:t>      "median_mttr_s": 4.5,</a:t>
            </a:r>
          </a:p>
          <a:p xmlns:a="http://schemas.openxmlformats.org/drawingml/2006/main">
            <a:r>
              <a:t>      "rollback_rate": 0,</a:t>
            </a:r>
          </a:p>
          <a:p xmlns:a="http://schemas.openxmlformats.org/drawingml/2006/main">
            <a:r>
              <a:t>      "escalated_rate": 0.2365</a:t>
            </a:r>
          </a:p>
          <a:p xmlns:a="http://schemas.openxmlformats.org/drawingml/2006/main">
            <a:r>
              <a:t>    },</a:t>
            </a:r>
          </a:p>
          <a:p xmlns:a="http://schemas.openxmlformats.org/drawingml/2006/main">
            <a:r>
              <a:t>    "sla": {</a:t>
            </a:r>
          </a:p>
          <a:p xmlns:a="http://schemas.openxmlformats.org/drawingml/2006/main">
            <a:r>
              <a:t>      "violation_s_total": 1990.5,</a:t>
            </a:r>
          </a:p>
          <a:p xmlns:a="http://schemas.openxmlformats.org/drawingml/2006/main">
            <a:r>
              <a:t>      "median_violation_s": 1.5,</a:t>
            </a:r>
          </a:p>
          <a:p xmlns:a="http://schemas.openxmlformats.org/drawingml/2006/main">
            <a:r>
              <a:t>      "p95_latency_ms": 10.2,</a:t>
            </a:r>
          </a:p>
          <a:p xmlns:a="http://schemas.openxmlformats.org/drawingml/2006/main">
            <a:r>
              <a:t>      "median_run_p95_latency_ms": 10.2,</a:t>
            </a:r>
          </a:p>
          <a:p xmlns:a="http://schemas.openxmlformats.org/drawingml/2006/main">
            <a:r>
              <a:t>      "flow_violation_s_total": 3986,</a:t>
            </a:r>
          </a:p>
          <a:p xmlns:a="http://schemas.openxmlformats.org/drawingml/2006/main">
            <a:r>
              <a:t>      "collateral_violation_s_after_action": 0,</a:t>
            </a:r>
          </a:p>
          <a:p xmlns:a="http://schemas.openxmlformats.org/drawingml/2006/main">
            <a:r>
              <a:t>      "mean_loss_pct": 1.182</a:t>
            </a:r>
          </a:p>
          <a:p xmlns:a="http://schemas.openxmlformats.org/drawingml/2006/main">
            <a:r>
              <a:t>    }</a:t>
            </a:r>
          </a:p>
          <a:p xmlns:a="http://schemas.openxmlformats.org/drawingml/2006/main">
            <a:r>
              <a:t>  }</a:t>
            </a:r>
          </a:p>
          <a:p xmlns:a="http://schemas.openxmlformats.org/drawingml/2006/main">
            <a:r>
              <a:t>}</a:t>
            </a:r>
          </a:p>
          <a:p xmlns:a="http://schemas.openxmlformats.org/drawingml/2006/main">
            <a:r>
              <a:t>Confidence and provenance definitions are in metadata. The denominator consists of faults that harm service in the original no-healing reference. Sustained recovery requires the fixed monitored services to pass every sample in the final ten modeled seconds. The artifact establishes performance for this simulated population.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separate experiment adds 18% observed Library/CS latency during seconds 3 to 13 and 30 to 40. The copied planning twin does not receive that disturbance. Ninety-two fault scenarios form this suite's service-impact denominator. Eight additional disturbance-only controls are separate from the fault table and are not healthy false-positive controls.</a:t>
            </a:r>
          </a:p>
          <a:p xmlns:a="http://schemas.openxmlformats.org/drawingml/2006/main">
            <a:r>
              <a:t/>
            </a:r>
          </a:p>
          <a:p xmlns:a="http://schemas.openxmlformats.org/drawingml/2006/main">
            <a:r>
              <a:t>Sustained recovered, short verified and relapsed rows count scenarios. Short verified means at least one attempt passed its six-sample verification. Final recovery requires every sample in the final twenty-sample service window to pass, and can also occur after the disturbance ends. Rollback events count individual rollback outcomes across service-impacting fault runs. Some scenarios roll back more than once. Scenarios with any rollback: No heal 0, Twin 34, RL 35. Exact editable table: [["Stress outcome","No heal","Twin","RL"],["Sustained recovered","36/92","53/92","54/92"],["Short verified","0/92","17/92","18/92"],["Relapsed","0/92","7/92","8/92"],["Rollback events","0","50","51"]].</a:t>
            </a:r>
          </a:p>
          <a:p xmlns:a="http://schemas.openxmlformats.org/drawingml/2006/main">
            <a:r>
              <a:t/>
            </a:r>
          </a:p>
          <a:p xmlns:a="http://schemas.openxmlformats.org/drawingml/2006/main">
            <a:r>
              <a:t>The table shows why an observed verification failure and attempted rollback do not guarantee sustained recovery. The observed post-action collateral breaches are associations under the injected disturbance, not proof that the action caused every breach. This stress cohort has a different impact denominator from the nominal suite, so directly comparing its recovery percentage with nominal recovery cannot establish a causal drop.</a:t>
            </a:r>
          </a:p>
          <a:p xmlns:a="http://schemas.openxmlformats.org/drawingml/2006/main">
            <a:r>
              <a:t/>
            </a:r>
          </a:p>
          <a:p xmlns:a="http://schemas.openxmlformats.org/drawingml/2006/main">
            <a:r>
              <a:t>Source: docs/evaluation.json, stress.summary and stress.runs. Model: services/evaluator/harness.py. Scope: docs/LIMITATIONS.md.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15 seconds: The demonstration establishes the complete control loop and measurable recovery in a simulated campus. Production hardware, wider topologies and independently modeled physics require further validation. The LLM explains stored evidence and cannot apply routes.</a:t>
            </a:r>
          </a:p>
          <a:p xmlns:a="http://schemas.openxmlformats.org/drawingml/2006/main">
            <a:r>
              <a:t/>
            </a:r>
          </a:p>
          <a:p xmlns:a="http://schemas.openxmlformats.org/drawingml/2006/main">
            <a:r>
              <a:t>For questions about the models, explain their separate tasks and the deterministic execution guards. Ordinary routing can reconverge after a hard link failure. Gray loss, overload or congestion may leave connectivity intact while service deteriorates. Planning uses bounded candidates on this campus and provides no proof of global optimality. When the twin is wrong, observed verification, rollback attempts and escalation reveal the failure. They cannot guarantee successful rollback in every case. Confidence values are heuristic ranks. Historical PPO experiments with oracle fault locations use a different task from the operational benchmark.</a:t>
            </a:r>
          </a:p>
          <a:p xmlns:a="http://schemas.openxmlformats.org/drawingml/2006/main">
            <a:r>
              <a:t/>
            </a:r>
          </a:p>
          <a:p xmlns:a="http://schemas.openxmlformats.org/drawingml/2006/main">
            <a:r>
              <a:t>The nominal twin shares the simulator's equations. The separate stress suite challenges one bounded form of observation mismatch on the same topology. The eight nominal RL relapses occur during gradual overload ramps, illustrating why short verification and sustained recovery must be reported separately. Saved training weights were preserved, and their complete original lineage has not been independently reconstructed. Claim actual Docker, Mininet, Open vSwitch or live provider availability only after verifying those runtimes.</a:t>
            </a:r>
          </a:p>
          <a:p xmlns:a="http://schemas.openxmlformats.org/drawingml/2006/main">
            <a:r>
              <a:t/>
            </a:r>
          </a:p>
          <a:p xmlns:a="http://schemas.openxmlformats.org/drawingml/2006/main">
            <a:r>
              <a:t>Sources: docs/LIMITATIONS.md, services/copilot/agent.py, services/llm/reports.py and services/evaluator/harness.py.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c7a62ebd924c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73eb3d2cc647b9" /><Relationship Type="http://schemas.openxmlformats.org/officeDocument/2006/relationships/slideLayout" Target="/ppt/slideLayouts/slideLayout1.xml" Id="R45ed7ee299fb48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ed7ee299fb48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414480c20e1403e" /><Relationship Type="http://schemas.openxmlformats.org/officeDocument/2006/relationships/notesSlide" Target="/ppt/notesSlides/notesSlide1.xml" Id="R0ad7f1cb748647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de2f12176f34ca2" /><Relationship Type="http://schemas.openxmlformats.org/officeDocument/2006/relationships/notesSlide" Target="/ppt/notesSlides/notesSlide2.xml" Id="R6669031a28794b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5be075d7cd04a00" /><Relationship Type="http://schemas.openxmlformats.org/officeDocument/2006/relationships/notesSlide" Target="/ppt/notesSlides/notesSlide3.xml" Id="Re0180035908c4d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ab8aefc8fa432b" /><Relationship Type="http://schemas.openxmlformats.org/officeDocument/2006/relationships/notesSlide" Target="/ppt/notesSlides/notesSlide4.xml" Id="Rdc629a1ba5244f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57a91bea492452c" /><Relationship Type="http://schemas.openxmlformats.org/officeDocument/2006/relationships/notesSlide" Target="/ppt/notesSlides/notesSlide5.xml" Id="R6cf442881f4b43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3fe681fb7514edd" /><Relationship Type="http://schemas.openxmlformats.org/officeDocument/2006/relationships/chart" Target="/ppt/slides/charts/chart1.xml" Id="R8ffbb7056098487b" /><Relationship Type="http://schemas.openxmlformats.org/officeDocument/2006/relationships/notesSlide" Target="/ppt/notesSlides/notesSlide6.xml" Id="Rd4f0892bceb948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79aef680f3e44c4" /><Relationship Type="http://schemas.openxmlformats.org/officeDocument/2006/relationships/notesSlide" Target="/ppt/notesSlides/notesSlide7.xml" Id="R4f4efca9dd5b49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6578584c81b418b" /><Relationship Type="http://schemas.openxmlformats.org/officeDocument/2006/relationships/notesSlide" Target="/ppt/notesSlides/notesSlide8.xml" Id="R52a6c741d3b64db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Recovered (%)</c:v>
          </c:tx>
          <c:spPr>
            <a:solidFill xmlns:a="http://schemas.openxmlformats.org/drawingml/2006/main">
              <a:srgbClr val="006F77"/>
            </a:solidFill>
          </c:spPr>
          <c:dLbls>
            <c:dLbl>
              <c:idx val="0"/>
              <c:tx>
                <c:rich>
                  <a:bodyPr xmlns:a="http://schemas.openxmlformats.org/drawingml/2006/main"/>
                  <a:lstStyle xmlns:a="http://schemas.openxmlformats.org/drawingml/2006/main"/>
                  <a:p xmlns:a="http://schemas.openxmlformats.org/drawingml/2006/main">
                    <a:r>
                      <a:rPr sz="1575" b="1">
                        <a:solidFill>
                          <a:srgbClr val="102539"/>
                        </a:solidFill>
                        <a:latin typeface="Arial"/>
                        <a:ea typeface="Arial"/>
                        <a:cs typeface="Arial"/>
                      </a:rPr>
                      <a:t>2.0%</a:t>
                    </a:r>
                  </a:p>
                </c:rich>
              </c:tx>
              <c:txPr>
                <a:bodyPr xmlns:a="http://schemas.openxmlformats.org/drawingml/2006/main" anchorCtr="1"/>
                <a:lstStyle xmlns:a="http://schemas.openxmlformats.org/drawingml/2006/main"/>
                <a:p xmlns:a="http://schemas.openxmlformats.org/drawingml/2006/main">
                  <a:pPr>
                    <a:defRPr sz="1575" b="1">
                      <a:solidFill>
                        <a:srgbClr val="102539"/>
                      </a:solidFill>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75" b="1">
                        <a:solidFill>
                          <a:srgbClr val="102539"/>
                        </a:solidFill>
                        <a:latin typeface="Arial"/>
                        <a:ea typeface="Arial"/>
                        <a:cs typeface="Arial"/>
                      </a:rPr>
                      <a:t>73.7%</a:t>
                    </a:r>
                  </a:p>
                </c:rich>
              </c:tx>
              <c:txPr>
                <a:bodyPr xmlns:a="http://schemas.openxmlformats.org/drawingml/2006/main" anchorCtr="1"/>
                <a:lstStyle xmlns:a="http://schemas.openxmlformats.org/drawingml/2006/main"/>
                <a:p xmlns:a="http://schemas.openxmlformats.org/drawingml/2006/main">
                  <a:pPr>
                    <a:defRPr sz="1575" b="1">
                      <a:solidFill>
                        <a:srgbClr val="102539"/>
                      </a:solidFill>
                      <a:latin typeface="Arial"/>
                      <a:ea typeface="Arial"/>
                      <a:cs typeface="Arial"/>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575" b="1">
                        <a:solidFill>
                          <a:srgbClr val="102539"/>
                        </a:solidFill>
                        <a:latin typeface="Arial"/>
                        <a:ea typeface="Arial"/>
                        <a:cs typeface="Arial"/>
                      </a:rPr>
                      <a:t>68.9%</a:t>
                    </a:r>
                  </a:p>
                </c:rich>
              </c:tx>
              <c:txPr>
                <a:bodyPr xmlns:a="http://schemas.openxmlformats.org/drawingml/2006/main" anchorCtr="1"/>
                <a:lstStyle xmlns:a="http://schemas.openxmlformats.org/drawingml/2006/main"/>
                <a:p xmlns:a="http://schemas.openxmlformats.org/drawingml/2006/main">
                  <a:pPr>
                    <a:defRPr sz="1575" b="1">
                      <a:solidFill>
                        <a:srgbClr val="102539"/>
                      </a:solidFill>
                      <a:latin typeface="Arial"/>
                      <a:ea typeface="Arial"/>
                      <a:cs typeface="Arial"/>
                    </a:defRPr>
                  </a:pPr>
                </a:p>
              </c:txPr>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575" b="1">
                        <a:solidFill>
                          <a:srgbClr val="102539"/>
                        </a:solidFill>
                        <a:latin typeface="Arial"/>
                        <a:ea typeface="Arial"/>
                        <a:cs typeface="Arial"/>
                      </a:rPr>
                      <a:t>12.2%</a:t>
                    </a:r>
                  </a:p>
                </c:rich>
              </c:tx>
              <c:txPr>
                <a:bodyPr xmlns:a="http://schemas.openxmlformats.org/drawingml/2006/main" anchorCtr="1"/>
                <a:lstStyle xmlns:a="http://schemas.openxmlformats.org/drawingml/2006/main"/>
                <a:p xmlns:a="http://schemas.openxmlformats.org/drawingml/2006/main">
                  <a:pPr>
                    <a:defRPr sz="1575" b="1">
                      <a:solidFill>
                        <a:srgbClr val="102539"/>
                      </a:solidFill>
                      <a:latin typeface="Arial"/>
                      <a:ea typeface="Arial"/>
                      <a:cs typeface="Arial"/>
                    </a:defRPr>
                  </a:pPr>
                </a:p>
              </c:txPr>
              <c:dLblPos val="outEnd"/>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575" b="1">
                        <a:solidFill>
                          <a:srgbClr val="102539"/>
                        </a:solidFill>
                        <a:latin typeface="Arial"/>
                        <a:ea typeface="Arial"/>
                        <a:cs typeface="Arial"/>
                      </a:rPr>
                      <a:t>68.9%</a:t>
                    </a:r>
                  </a:p>
                </c:rich>
              </c:tx>
              <c:txPr>
                <a:bodyPr xmlns:a="http://schemas.openxmlformats.org/drawingml/2006/main" anchorCtr="1"/>
                <a:lstStyle xmlns:a="http://schemas.openxmlformats.org/drawingml/2006/main"/>
                <a:p xmlns:a="http://schemas.openxmlformats.org/drawingml/2006/main">
                  <a:pPr>
                    <a:defRPr sz="1575" b="1">
                      <a:solidFill>
                        <a:srgbClr val="102539"/>
                      </a:solidFill>
                      <a:latin typeface="Arial"/>
                      <a:ea typeface="Arial"/>
                      <a:cs typeface="Arial"/>
                    </a:defRPr>
                  </a:pPr>
                </a:p>
              </c:txPr>
              <c:dLblPos val="outEnd"/>
              <c:showLegendKey val="0"/>
              <c:showVal val="0"/>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575" b="1">
                        <a:solidFill>
                          <a:srgbClr val="102539"/>
                        </a:solidFill>
                        <a:latin typeface="Arial"/>
                        <a:ea typeface="Arial"/>
                        <a:cs typeface="Arial"/>
                      </a:rPr>
                      <a:t>68.9%</a:t>
                    </a:r>
                  </a:p>
                </c:rich>
              </c:tx>
              <c:txPr>
                <a:bodyPr xmlns:a="http://schemas.openxmlformats.org/drawingml/2006/main" anchorCtr="1"/>
                <a:lstStyle xmlns:a="http://schemas.openxmlformats.org/drawingml/2006/main"/>
                <a:p xmlns:a="http://schemas.openxmlformats.org/drawingml/2006/main">
                  <a:pPr>
                    <a:defRPr sz="1575" b="1">
                      <a:solidFill>
                        <a:srgbClr val="102539"/>
                      </a:solidFill>
                      <a:latin typeface="Arial"/>
                      <a:ea typeface="Arial"/>
                      <a:cs typeface="Arial"/>
                    </a:defRPr>
                  </a:pPr>
                </a:p>
              </c:txPr>
              <c:dLblPos val="outEnd"/>
              <c:showLegendKey val="0"/>
              <c:showVal val="0"/>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575" b="1">
                        <a:solidFill>
                          <a:srgbClr val="102539"/>
                        </a:solidFill>
                        <a:latin typeface="Arial"/>
                        <a:ea typeface="Arial"/>
                        <a:cs typeface="Arial"/>
                      </a:rPr>
                      <a:t>71.6%</a:t>
                    </a:r>
                  </a:p>
                </c:rich>
              </c:tx>
              <c:txPr>
                <a:bodyPr xmlns:a="http://schemas.openxmlformats.org/drawingml/2006/main" anchorCtr="1"/>
                <a:lstStyle xmlns:a="http://schemas.openxmlformats.org/drawingml/2006/main"/>
                <a:p xmlns:a="http://schemas.openxmlformats.org/drawingml/2006/main">
                  <a:pPr>
                    <a:defRPr sz="1575" b="1">
                      <a:solidFill>
                        <a:srgbClr val="102539"/>
                      </a:solidFill>
                      <a:latin typeface="Arial"/>
                      <a:ea typeface="Arial"/>
                      <a:cs typeface="Arial"/>
                    </a:defRPr>
                  </a:pPr>
                </a:p>
              </c:txPr>
              <c:dLblPos val="outEnd"/>
              <c:showLegendKey val="0"/>
              <c:showVal val="0"/>
              <c:showCatName val="0"/>
              <c:showSerName val="0"/>
              <c:showPercent val="0"/>
              <c:showBubbleSize val="0"/>
            </c:dLbl>
          </c:dLbls>
          <c:cat>
            <c:strRef>
              <c:f>'Chart Data'!$A$2:$A$8</c:f>
              <c:strCache>
                <c:ptCount val="7"/>
                <c:pt idx="0">
                  <c:v>No heal</c:v>
                </c:pt>
                <c:pt idx="1">
                  <c:v>Reactive*</c:v>
                </c:pt>
                <c:pt idx="2">
                  <c:v>Guarded</c:v>
                </c:pt>
                <c:pt idx="3">
                  <c:v>Native</c:v>
                </c:pt>
                <c:pt idx="4">
                  <c:v>Twin</c:v>
                </c:pt>
                <c:pt idx="5">
                  <c:v>Predictive</c:v>
                </c:pt>
                <c:pt idx="6">
                  <c:v>RL</c:v>
                </c:pt>
              </c:strCache>
            </c:strRef>
          </c:cat>
          <c:val>
            <c:numRef>
              <c:f>'Chart Data'!$B$2:$B$8</c:f>
              <c:numCache>
                <c:formatCode>0"%"</c:formatCode>
                <c:ptCount val="7"/>
                <c:pt idx="0">
                  <c:v>2.03</c:v>
                </c:pt>
                <c:pt idx="1">
                  <c:v>73.65</c:v>
                </c:pt>
                <c:pt idx="2">
                  <c:v>68.92</c:v>
                </c:pt>
                <c:pt idx="3">
                  <c:v>12.16</c:v>
                </c:pt>
                <c:pt idx="4">
                  <c:v>68.92</c:v>
                </c:pt>
                <c:pt idx="5">
                  <c:v>68.92</c:v>
                </c:pt>
                <c:pt idx="6">
                  <c:v>71.62</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539"/>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02539"/>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7E0E7"/>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06477"/>
                </a:solidFill>
                <a:latin typeface="Arial"/>
                <a:ea typeface="Arial"/>
                <a:cs typeface="Arial"/>
              </a:defRPr>
            </a:pPr>
          </a:p>
        </c:txPr>
        <c:crossAx val="48650112"/>
        <c:crossBetween val="between"/>
        <c:majorUnit val="25"/>
      </c:valAx>
      <c:spPr>
        <a:solidFill xmlns:a="http://schemas.openxmlformats.org/drawingml/2006/main">
          <a:srgbClr val="F7F9FB"/>
        </a:solidFill>
      </c:spPr>
    </c:plotArea>
    <c:plotVisOnly val="1"/>
  </c:chart>
  <c:spPr>
    <a:solidFill xmlns:a="http://schemas.openxmlformats.org/drawingml/2006/main">
      <a:srgbClr val="F7F9FB"/>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85C7C7-2121-45F1-87A8-DAC7AEC3BCF3}"/>
              </a:ext>
            </a:extLst>
          </p:cNvPr>
          <p:cNvSpPr>
            <a:spLocks xmlns:a="http://schemas.openxmlformats.org/drawingml/2006/main" noGrp="1"/>
          </p:cNvSpPr>
          <p:nvPr/>
        </p:nvSpPr>
        <p:spPr>
          <a:xfrm xmlns:a="http://schemas.openxmlformats.org/drawingml/2006/main">
            <a:off x="685800" y="26670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6F77"/>
                </a:solidFill>
                <a:latin typeface="Arial"/>
                <a:ea typeface="Arial"/>
                <a:cs typeface="Arial"/>
              </a:defRPr>
            </a:pPr>
            <a:r>
              <a:rPr sz="1350" b="1">
                <a:solidFill>
                  <a:srgbClr val="006F77"/>
                </a:solidFill>
                <a:latin typeface="Arial"/>
                <a:ea typeface="Arial"/>
                <a:cs typeface="Arial"/>
              </a:rPr>
              <a:t>NETHEAL  /  NC-04</a:t>
            </a:r>
          </a:p>
        </p:txBody>
      </p:sp>
      <p:sp>
        <p:nvSpPr>
          <p:cNvPr id="2" name="">
            <a:extLst xmlns:a="http://schemas.openxmlformats.org/drawingml/2006/main">
              <a:ext uri="{FF2B5EF4-FFF2-40B4-BE49-F238E27FC236}">
                <a16:creationId xmlns:a16="http://schemas.microsoft.com/office/drawing/2014/main" id="{2039E8CF-F7BA-45A7-89B9-D1652B9D4414}"/>
              </a:ext>
            </a:extLst>
          </p:cNvPr>
          <p:cNvSpPr>
            <a:spLocks xmlns:a="http://schemas.openxmlformats.org/drawingml/2006/main" noGrp="1"/>
          </p:cNvSpPr>
          <p:nvPr/>
        </p:nvSpPr>
        <p:spPr>
          <a:xfrm xmlns:a="http://schemas.openxmlformats.org/drawingml/2006/main">
            <a:off x="685800" y="7620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02539"/>
                </a:solidFill>
                <a:latin typeface="Arial"/>
                <a:ea typeface="Arial"/>
                <a:cs typeface="Arial"/>
              </a:defRPr>
            </a:pPr>
            <a:r>
              <a:rPr sz="4350" b="1">
                <a:solidFill>
                  <a:srgbClr val="102539"/>
                </a:solidFill>
                <a:latin typeface="Arial"/>
                <a:ea typeface="Arial"/>
                <a:cs typeface="Arial"/>
              </a:rPr>
              <a:t>Self-healing campus network</a:t>
            </a:r>
          </a:p>
        </p:txBody>
      </p:sp>
      <p:sp>
        <p:nvSpPr>
          <p:cNvPr id="3" name="">
            <a:extLst xmlns:a="http://schemas.openxmlformats.org/drawingml/2006/main">
              <a:ext uri="{FF2B5EF4-FFF2-40B4-BE49-F238E27FC236}">
                <a16:creationId xmlns:a16="http://schemas.microsoft.com/office/drawing/2014/main" id="{D34B33E4-73FD-4889-8B3E-24E9C8EB339A}"/>
              </a:ext>
            </a:extLst>
          </p:cNvPr>
          <p:cNvSpPr>
            <a:spLocks xmlns:a="http://schemas.openxmlformats.org/drawingml/2006/main" noGrp="1"/>
          </p:cNvSpPr>
          <p:nvPr/>
        </p:nvSpPr>
        <p:spPr>
          <a:xfrm xmlns:a="http://schemas.openxmlformats.org/drawingml/2006/main">
            <a:off x="685800" y="16954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477"/>
                </a:solidFill>
                <a:latin typeface="Arial"/>
                <a:ea typeface="Arial"/>
                <a:cs typeface="Arial"/>
              </a:defRPr>
            </a:pPr>
            <a:r>
              <a:rPr sz="1950" b="0">
                <a:solidFill>
                  <a:srgbClr val="506477"/>
                </a:solidFill>
                <a:latin typeface="Arial"/>
                <a:ea typeface="Arial"/>
                <a:cs typeface="Arial"/>
              </a:rPr>
              <a:t>Detection, root cause analysis and evaluation</a:t>
            </a:r>
          </a:p>
        </p:txBody>
      </p:sp>
      <p:sp>
        <p:nvSpPr>
          <p:cNvPr id="4" name="">
            <a:extLst xmlns:a="http://schemas.openxmlformats.org/drawingml/2006/main">
              <a:ext uri="{FF2B5EF4-FFF2-40B4-BE49-F238E27FC236}">
                <a16:creationId xmlns:a16="http://schemas.microsoft.com/office/drawing/2014/main" id="{AF97DF4B-E4B3-4079-9708-392DD76EA345}"/>
              </a:ext>
            </a:extLst>
          </p:cNvPr>
          <p:cNvSpPr>
            <a:spLocks xmlns:a="http://schemas.openxmlformats.org/drawingml/2006/main" noGrp="1"/>
          </p:cNvSpPr>
          <p:nvPr/>
        </p:nvSpPr>
        <p:spPr>
          <a:xfrm xmlns:a="http://schemas.openxmlformats.org/drawingml/2006/main">
            <a:off x="10953750" y="63341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477"/>
                </a:solidFill>
                <a:latin typeface="Arial"/>
                <a:ea typeface="Arial"/>
                <a:cs typeface="Arial"/>
              </a:defRPr>
            </a:pPr>
            <a:r>
              <a:rPr sz="1350" b="0">
                <a:solidFill>
                  <a:srgbClr val="506477"/>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A7612CB-AB25-4F4F-B61F-898FCF60C14E}"/>
              </a:ext>
            </a:extLst>
          </p:cNvPr>
          <p:cNvSpPr>
            <a:spLocks xmlns:a="http://schemas.openxmlformats.org/drawingml/2006/main" noGrp="1"/>
          </p:cNvSpPr>
          <p:nvPr/>
        </p:nvSpPr>
        <p:spPr>
          <a:xfrm xmlns:a="http://schemas.openxmlformats.org/drawingml/2006/main">
            <a:off x="685800" y="2914650"/>
            <a:ext cx="10820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006F77"/>
                </a:solidFill>
                <a:latin typeface="Arial"/>
                <a:ea typeface="Arial"/>
                <a:cs typeface="Arial"/>
              </a:defRPr>
            </a:pPr>
            <a:r>
              <a:rPr sz="3450" b="1">
                <a:solidFill>
                  <a:srgbClr val="006F77"/>
                </a:solidFill>
                <a:latin typeface="Arial"/>
                <a:ea typeface="Arial"/>
                <a:cs typeface="Arial"/>
              </a:rPr>
              <a:t>Observe → detect → diagnose → decide</a:t>
            </a:r>
          </a:p>
          <a:p xmlns:a="http://schemas.openxmlformats.org/drawingml/2006/main">
            <a:pPr>
              <a:defRPr sz="3450" b="1">
                <a:solidFill>
                  <a:srgbClr val="006F77"/>
                </a:solidFill>
                <a:latin typeface="Arial"/>
                <a:ea typeface="Arial"/>
                <a:cs typeface="Arial"/>
              </a:defRPr>
            </a:pPr>
            <a:r>
              <a:rPr sz="3450" b="1">
                <a:solidFill>
                  <a:srgbClr val="006F77"/>
                </a:solidFill>
                <a:latin typeface="Arial"/>
                <a:ea typeface="Arial"/>
                <a:cs typeface="Arial"/>
              </a:rPr>
              <a:t>Heal → verify → explain</a:t>
            </a:r>
          </a:p>
        </p:txBody>
      </p:sp>
      <p:sp>
        <p:nvSpPr>
          <p:cNvPr id="6" name="">
            <a:extLst xmlns:a="http://schemas.openxmlformats.org/drawingml/2006/main">
              <a:ext uri="{FF2B5EF4-FFF2-40B4-BE49-F238E27FC236}">
                <a16:creationId xmlns:a16="http://schemas.microsoft.com/office/drawing/2014/main" id="{05F5FD71-9547-4AEB-A1B2-3DBD4DFC60F8}"/>
              </a:ext>
            </a:extLst>
          </p:cNvPr>
          <p:cNvSpPr>
            <a:spLocks xmlns:a="http://schemas.openxmlformats.org/drawingml/2006/main" noGrp="1"/>
          </p:cNvSpPr>
          <p:nvPr/>
        </p:nvSpPr>
        <p:spPr>
          <a:xfrm xmlns:a="http://schemas.openxmlformats.org/drawingml/2006/main">
            <a:off x="685800" y="52863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06477"/>
                </a:solidFill>
                <a:latin typeface="Arial"/>
                <a:ea typeface="Arial"/>
                <a:cs typeface="Arial"/>
              </a:defRPr>
            </a:pPr>
            <a:r>
              <a:rPr sz="2100" b="0">
                <a:solidFill>
                  <a:srgbClr val="506477"/>
                </a:solidFill>
                <a:latin typeface="Arial"/>
                <a:ea typeface="Arial"/>
                <a:cs typeface="Arial"/>
              </a:rPr>
              <a:t>15 devices   ·   27 links   ·   9 traffic demands</a:t>
            </a:r>
          </a:p>
        </p:txBody>
      </p:sp>
    </p:spTree>
    <p:extLst>
      <p:ext uri="{BB962C8B-B14F-4D97-AF65-F5344CB8AC3E}">
        <p14:creationId xmlns:p14="http://schemas.microsoft.com/office/powerpoint/2010/main" val="1072766210"/>
      </p:ext>
    </p:extLst>
  </p:cSld>
</p:sld>
</file>

<file path=ppt/slides/slide2.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2DCA8AD-E3E7-498B-99E8-2917DC0B5E77}"/>
              </a:ext>
            </a:extLst>
          </p:cNvPr>
          <p:cNvSpPr>
            <a:spLocks xmlns:a="http://schemas.openxmlformats.org/drawingml/2006/main" noGrp="1"/>
          </p:cNvSpPr>
          <p:nvPr/>
        </p:nvSpPr>
        <p:spPr>
          <a:xfrm xmlns:a="http://schemas.openxmlformats.org/drawingml/2006/main">
            <a:off x="685800" y="26670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6F77"/>
                </a:solidFill>
                <a:latin typeface="Arial"/>
                <a:ea typeface="Arial"/>
                <a:cs typeface="Arial"/>
              </a:defRPr>
            </a:pPr>
            <a:r>
              <a:rPr sz="1350" b="1">
                <a:solidFill>
                  <a:srgbClr val="006F77"/>
                </a:solidFill>
                <a:latin typeface="Arial"/>
                <a:ea typeface="Arial"/>
                <a:cs typeface="Arial"/>
              </a:rPr>
              <a:t>NETHEAL  /  NC-04</a:t>
            </a:r>
          </a:p>
        </p:txBody>
      </p:sp>
      <p:sp>
        <p:nvSpPr>
          <p:cNvPr id="2" name="">
            <a:extLst xmlns:a="http://schemas.openxmlformats.org/drawingml/2006/main">
              <a:ext uri="{FF2B5EF4-FFF2-40B4-BE49-F238E27FC236}">
                <a16:creationId xmlns:a16="http://schemas.microsoft.com/office/drawing/2014/main" id="{1EDED080-9EC0-404E-AB30-AEE9C207F822}"/>
              </a:ext>
            </a:extLst>
          </p:cNvPr>
          <p:cNvSpPr>
            <a:spLocks xmlns:a="http://schemas.openxmlformats.org/drawingml/2006/main" noGrp="1"/>
          </p:cNvSpPr>
          <p:nvPr/>
        </p:nvSpPr>
        <p:spPr>
          <a:xfrm xmlns:a="http://schemas.openxmlformats.org/drawingml/2006/main">
            <a:off x="685800" y="7620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539"/>
                </a:solidFill>
                <a:latin typeface="Arial"/>
                <a:ea typeface="Arial"/>
                <a:cs typeface="Arial"/>
              </a:defRPr>
            </a:pPr>
            <a:r>
              <a:rPr sz="3450" b="1">
                <a:solidFill>
                  <a:srgbClr val="102539"/>
                </a:solidFill>
                <a:latin typeface="Arial"/>
                <a:ea typeface="Arial"/>
                <a:cs typeface="Arial"/>
              </a:rPr>
              <a:t>Detection</a:t>
            </a:r>
          </a:p>
        </p:txBody>
      </p:sp>
      <p:sp>
        <p:nvSpPr>
          <p:cNvPr id="3" name="">
            <a:extLst xmlns:a="http://schemas.openxmlformats.org/drawingml/2006/main">
              <a:ext uri="{FF2B5EF4-FFF2-40B4-BE49-F238E27FC236}">
                <a16:creationId xmlns:a16="http://schemas.microsoft.com/office/drawing/2014/main" id="{14576F69-7F8D-464A-B70B-653A9BAAF0FA}"/>
              </a:ext>
            </a:extLst>
          </p:cNvPr>
          <p:cNvSpPr>
            <a:spLocks xmlns:a="http://schemas.openxmlformats.org/drawingml/2006/main" noGrp="1"/>
          </p:cNvSpPr>
          <p:nvPr/>
        </p:nvSpPr>
        <p:spPr>
          <a:xfrm xmlns:a="http://schemas.openxmlformats.org/drawingml/2006/main">
            <a:off x="685800" y="16954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477"/>
                </a:solidFill>
                <a:latin typeface="Arial"/>
                <a:ea typeface="Arial"/>
                <a:cs typeface="Arial"/>
              </a:defRPr>
            </a:pPr>
            <a:r>
              <a:rPr sz="1950" b="0">
                <a:solidFill>
                  <a:srgbClr val="506477"/>
                </a:solidFill>
                <a:latin typeface="Arial"/>
                <a:ea typeface="Arial"/>
                <a:cs typeface="Arial"/>
              </a:rPr>
              <a:t>Telemetry becomes a current, evidence-backed alert</a:t>
            </a:r>
          </a:p>
        </p:txBody>
      </p:sp>
      <p:sp>
        <p:nvSpPr>
          <p:cNvPr id="4" name="">
            <a:extLst xmlns:a="http://schemas.openxmlformats.org/drawingml/2006/main">
              <a:ext uri="{FF2B5EF4-FFF2-40B4-BE49-F238E27FC236}">
                <a16:creationId xmlns:a16="http://schemas.microsoft.com/office/drawing/2014/main" id="{173D55FE-4D90-422A-A47A-BC947FD802E5}"/>
              </a:ext>
            </a:extLst>
          </p:cNvPr>
          <p:cNvSpPr>
            <a:spLocks xmlns:a="http://schemas.openxmlformats.org/drawingml/2006/main" noGrp="1"/>
          </p:cNvSpPr>
          <p:nvPr/>
        </p:nvSpPr>
        <p:spPr>
          <a:xfrm xmlns:a="http://schemas.openxmlformats.org/drawingml/2006/main">
            <a:off x="10953750" y="63341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477"/>
                </a:solidFill>
                <a:latin typeface="Arial"/>
                <a:ea typeface="Arial"/>
                <a:cs typeface="Arial"/>
              </a:defRPr>
            </a:pPr>
            <a:r>
              <a:rPr sz="1350" b="0">
                <a:solidFill>
                  <a:srgbClr val="506477"/>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02C7F852-EDB7-4C21-BDAD-4C37D661F40D}"/>
              </a:ext>
            </a:extLst>
          </p:cNvPr>
          <p:cNvSpPr>
            <a:spLocks xmlns:a="http://schemas.openxmlformats.org/drawingml/2006/main" noGrp="1"/>
          </p:cNvSpPr>
          <p:nvPr/>
        </p:nvSpPr>
        <p:spPr>
          <a:xfrm xmlns:a="http://schemas.openxmlformats.org/drawingml/2006/main">
            <a:off x="685800" y="2552700"/>
            <a:ext cx="304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6F77"/>
                </a:solidFill>
                <a:latin typeface="Arial"/>
                <a:ea typeface="Arial"/>
                <a:cs typeface="Arial"/>
              </a:defRPr>
            </a:pPr>
            <a:r>
              <a:rPr sz="2250" b="1">
                <a:solidFill>
                  <a:srgbClr val="006F77"/>
                </a:solidFill>
                <a:latin typeface="Arial"/>
                <a:ea typeface="Arial"/>
                <a:cs typeface="Arial"/>
              </a:rPr>
              <a:t>1  Validate and learn</a:t>
            </a:r>
          </a:p>
        </p:txBody>
      </p:sp>
      <p:sp>
        <p:nvSpPr>
          <p:cNvPr id="6" name="">
            <a:extLst xmlns:a="http://schemas.openxmlformats.org/drawingml/2006/main">
              <a:ext uri="{FF2B5EF4-FFF2-40B4-BE49-F238E27FC236}">
                <a16:creationId xmlns:a16="http://schemas.microsoft.com/office/drawing/2014/main" id="{63119B81-A2FE-4F95-ADC4-07A4E587F1CF}"/>
              </a:ext>
            </a:extLst>
          </p:cNvPr>
          <p:cNvSpPr>
            <a:spLocks xmlns:a="http://schemas.openxmlformats.org/drawingml/2006/main" noGrp="1"/>
          </p:cNvSpPr>
          <p:nvPr/>
        </p:nvSpPr>
        <p:spPr>
          <a:xfrm xmlns:a="http://schemas.openxmlformats.org/drawingml/2006/main">
            <a:off x="3943350" y="2552700"/>
            <a:ext cx="7562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539"/>
                </a:solidFill>
                <a:latin typeface="Arial"/>
                <a:ea typeface="Arial"/>
                <a:cs typeface="Arial"/>
              </a:defRPr>
            </a:pPr>
            <a:r>
              <a:rPr sz="2100" b="0">
                <a:solidFill>
                  <a:srgbClr val="102539"/>
                </a:solidFill>
                <a:latin typeface="Arial"/>
                <a:ea typeface="Arial"/>
                <a:cs typeface="Arial"/>
              </a:rPr>
              <a:t>Latency, loss and load; a trusted healthy baseline</a:t>
            </a:r>
          </a:p>
        </p:txBody>
      </p:sp>
      <p:sp>
        <p:nvSpPr>
          <p:cNvPr id="7" name="">
            <a:extLst xmlns:a="http://schemas.openxmlformats.org/drawingml/2006/main">
              <a:ext uri="{FF2B5EF4-FFF2-40B4-BE49-F238E27FC236}">
                <a16:creationId xmlns:a16="http://schemas.microsoft.com/office/drawing/2014/main" id="{491B01AB-003F-4A8B-B297-38BB98846D85}"/>
              </a:ext>
            </a:extLst>
          </p:cNvPr>
          <p:cNvSpPr>
            <a:spLocks xmlns:a="http://schemas.openxmlformats.org/drawingml/2006/main" noGrp="1"/>
          </p:cNvSpPr>
          <p:nvPr/>
        </p:nvSpPr>
        <p:spPr>
          <a:xfrm xmlns:a="http://schemas.openxmlformats.org/drawingml/2006/main">
            <a:off x="685800" y="3657600"/>
            <a:ext cx="304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6F77"/>
                </a:solidFill>
                <a:latin typeface="Arial"/>
                <a:ea typeface="Arial"/>
                <a:cs typeface="Arial"/>
              </a:defRPr>
            </a:pPr>
            <a:r>
              <a:rPr sz="2250" b="1">
                <a:solidFill>
                  <a:srgbClr val="006F77"/>
                </a:solidFill>
                <a:latin typeface="Arial"/>
                <a:ea typeface="Arial"/>
                <a:cs typeface="Arial"/>
              </a:rPr>
              <a:t>2  Find unhealthy service</a:t>
            </a:r>
          </a:p>
        </p:txBody>
      </p:sp>
      <p:sp>
        <p:nvSpPr>
          <p:cNvPr id="8" name="">
            <a:extLst xmlns:a="http://schemas.openxmlformats.org/drawingml/2006/main">
              <a:ext uri="{FF2B5EF4-FFF2-40B4-BE49-F238E27FC236}">
                <a16:creationId xmlns:a16="http://schemas.microsoft.com/office/drawing/2014/main" id="{0B5AB732-BDEC-4F15-84E6-408638853563}"/>
              </a:ext>
            </a:extLst>
          </p:cNvPr>
          <p:cNvSpPr>
            <a:spLocks xmlns:a="http://schemas.openxmlformats.org/drawingml/2006/main" noGrp="1"/>
          </p:cNvSpPr>
          <p:nvPr/>
        </p:nvSpPr>
        <p:spPr>
          <a:xfrm xmlns:a="http://schemas.openxmlformats.org/drawingml/2006/main">
            <a:off x="3943350" y="3657600"/>
            <a:ext cx="7562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539"/>
                </a:solidFill>
                <a:latin typeface="Arial"/>
                <a:ea typeface="Arial"/>
                <a:cs typeface="Arial"/>
              </a:defRPr>
            </a:pPr>
            <a:r>
              <a:rPr sz="2100" b="0">
                <a:solidFill>
                  <a:srgbClr val="102539"/>
                </a:solidFill>
                <a:latin typeface="Arial"/>
                <a:ea typeface="Arial"/>
                <a:cs typeface="Arial"/>
              </a:rPr>
              <a:t>Robust z + Isolation Forest; reachability and SLA checks</a:t>
            </a:r>
          </a:p>
        </p:txBody>
      </p:sp>
      <p:sp>
        <p:nvSpPr>
          <p:cNvPr id="9" name="">
            <a:extLst xmlns:a="http://schemas.openxmlformats.org/drawingml/2006/main">
              <a:ext uri="{FF2B5EF4-FFF2-40B4-BE49-F238E27FC236}">
                <a16:creationId xmlns:a16="http://schemas.microsoft.com/office/drawing/2014/main" id="{1B9DD6B8-9FD7-4F4B-A935-9143E769A17A}"/>
              </a:ext>
            </a:extLst>
          </p:cNvPr>
          <p:cNvSpPr>
            <a:spLocks xmlns:a="http://schemas.openxmlformats.org/drawingml/2006/main" noGrp="1"/>
          </p:cNvSpPr>
          <p:nvPr/>
        </p:nvSpPr>
        <p:spPr>
          <a:xfrm xmlns:a="http://schemas.openxmlformats.org/drawingml/2006/main">
            <a:off x="685800" y="4762500"/>
            <a:ext cx="304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6F77"/>
                </a:solidFill>
                <a:latin typeface="Arial"/>
                <a:ea typeface="Arial"/>
                <a:cs typeface="Arial"/>
              </a:defRPr>
            </a:pPr>
            <a:r>
              <a:rPr sz="2250" b="1">
                <a:solidFill>
                  <a:srgbClr val="006F77"/>
                </a:solidFill>
                <a:latin typeface="Arial"/>
                <a:ea typeface="Arial"/>
                <a:cs typeface="Arial"/>
              </a:rPr>
              <a:t>3  Confirm over time</a:t>
            </a:r>
          </a:p>
        </p:txBody>
      </p:sp>
      <p:sp>
        <p:nvSpPr>
          <p:cNvPr id="10" name="">
            <a:extLst xmlns:a="http://schemas.openxmlformats.org/drawingml/2006/main">
              <a:ext uri="{FF2B5EF4-FFF2-40B4-BE49-F238E27FC236}">
                <a16:creationId xmlns:a16="http://schemas.microsoft.com/office/drawing/2014/main" id="{9E59D915-6D88-4080-A35A-6725828DEFC6}"/>
              </a:ext>
            </a:extLst>
          </p:cNvPr>
          <p:cNvSpPr>
            <a:spLocks xmlns:a="http://schemas.openxmlformats.org/drawingml/2006/main" noGrp="1"/>
          </p:cNvSpPr>
          <p:nvPr/>
        </p:nvSpPr>
        <p:spPr>
          <a:xfrm xmlns:a="http://schemas.openxmlformats.org/drawingml/2006/main">
            <a:off x="3943350" y="4762500"/>
            <a:ext cx="7562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539"/>
                </a:solidFill>
                <a:latin typeface="Arial"/>
                <a:ea typeface="Arial"/>
                <a:cs typeface="Arial"/>
              </a:defRPr>
            </a:pPr>
            <a:r>
              <a:rPr sz="2100" b="0">
                <a:solidFill>
                  <a:srgbClr val="102539"/>
                </a:solidFill>
                <a:latin typeface="Arial"/>
                <a:ea typeface="Arial"/>
                <a:cs typeface="Arial"/>
              </a:rPr>
              <a:t>3 of 4 bad samples; 6 of 8 for latency-only alarms</a:t>
            </a:r>
          </a:p>
        </p:txBody>
      </p:sp>
    </p:spTree>
    <p:extLst>
      <p:ext uri="{BB962C8B-B14F-4D97-AF65-F5344CB8AC3E}">
        <p14:creationId xmlns:p14="http://schemas.microsoft.com/office/powerpoint/2010/main" val="443613779"/>
      </p:ext>
    </p:extLst>
  </p:cSld>
</p:sld>
</file>

<file path=ppt/slides/slide3.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5B2B338-51F8-4D4F-9F34-19662C7F165B}"/>
              </a:ext>
            </a:extLst>
          </p:cNvPr>
          <p:cNvSpPr>
            <a:spLocks xmlns:a="http://schemas.openxmlformats.org/drawingml/2006/main" noGrp="1"/>
          </p:cNvSpPr>
          <p:nvPr/>
        </p:nvSpPr>
        <p:spPr>
          <a:xfrm xmlns:a="http://schemas.openxmlformats.org/drawingml/2006/main">
            <a:off x="685800" y="26670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6F77"/>
                </a:solidFill>
                <a:latin typeface="Arial"/>
                <a:ea typeface="Arial"/>
                <a:cs typeface="Arial"/>
              </a:defRPr>
            </a:pPr>
            <a:r>
              <a:rPr sz="1350" b="1">
                <a:solidFill>
                  <a:srgbClr val="006F77"/>
                </a:solidFill>
                <a:latin typeface="Arial"/>
                <a:ea typeface="Arial"/>
                <a:cs typeface="Arial"/>
              </a:rPr>
              <a:t>NETHEAL  /  NC-04</a:t>
            </a:r>
          </a:p>
        </p:txBody>
      </p:sp>
      <p:sp>
        <p:nvSpPr>
          <p:cNvPr id="2" name="">
            <a:extLst xmlns:a="http://schemas.openxmlformats.org/drawingml/2006/main">
              <a:ext uri="{FF2B5EF4-FFF2-40B4-BE49-F238E27FC236}">
                <a16:creationId xmlns:a16="http://schemas.microsoft.com/office/drawing/2014/main" id="{6C7E8CCA-0F5E-456F-B5B3-354803CA259C}"/>
              </a:ext>
            </a:extLst>
          </p:cNvPr>
          <p:cNvSpPr>
            <a:spLocks xmlns:a="http://schemas.openxmlformats.org/drawingml/2006/main" noGrp="1"/>
          </p:cNvSpPr>
          <p:nvPr/>
        </p:nvSpPr>
        <p:spPr>
          <a:xfrm xmlns:a="http://schemas.openxmlformats.org/drawingml/2006/main">
            <a:off x="685800" y="7620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539"/>
                </a:solidFill>
                <a:latin typeface="Arial"/>
                <a:ea typeface="Arial"/>
                <a:cs typeface="Arial"/>
              </a:defRPr>
            </a:pPr>
            <a:r>
              <a:rPr sz="3450" b="1">
                <a:solidFill>
                  <a:srgbClr val="102539"/>
                </a:solidFill>
                <a:latin typeface="Arial"/>
                <a:ea typeface="Arial"/>
                <a:cs typeface="Arial"/>
              </a:rPr>
              <a:t>Root cause analysis</a:t>
            </a:r>
          </a:p>
        </p:txBody>
      </p:sp>
      <p:sp>
        <p:nvSpPr>
          <p:cNvPr id="3" name="">
            <a:extLst xmlns:a="http://schemas.openxmlformats.org/drawingml/2006/main">
              <a:ext uri="{FF2B5EF4-FFF2-40B4-BE49-F238E27FC236}">
                <a16:creationId xmlns:a16="http://schemas.microsoft.com/office/drawing/2014/main" id="{70AA2764-F4DB-4DDE-A944-AD2FDB28CE2E}"/>
              </a:ext>
            </a:extLst>
          </p:cNvPr>
          <p:cNvSpPr>
            <a:spLocks xmlns:a="http://schemas.openxmlformats.org/drawingml/2006/main" noGrp="1"/>
          </p:cNvSpPr>
          <p:nvPr/>
        </p:nvSpPr>
        <p:spPr>
          <a:xfrm xmlns:a="http://schemas.openxmlformats.org/drawingml/2006/main">
            <a:off x="685800" y="16954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477"/>
                </a:solidFill>
                <a:latin typeface="Arial"/>
                <a:ea typeface="Arial"/>
                <a:cs typeface="Arial"/>
              </a:defRPr>
            </a:pPr>
            <a:r>
              <a:rPr sz="1950" b="0">
                <a:solidFill>
                  <a:srgbClr val="506477"/>
                </a:solidFill>
                <a:latin typeface="Arial"/>
                <a:ea typeface="Arial"/>
                <a:cs typeface="Arial"/>
              </a:rPr>
              <a:t>Resource evidence plus the paths of failing traffic</a:t>
            </a:r>
          </a:p>
        </p:txBody>
      </p:sp>
      <p:sp>
        <p:nvSpPr>
          <p:cNvPr id="4" name="">
            <a:extLst xmlns:a="http://schemas.openxmlformats.org/drawingml/2006/main">
              <a:ext uri="{FF2B5EF4-FFF2-40B4-BE49-F238E27FC236}">
                <a16:creationId xmlns:a16="http://schemas.microsoft.com/office/drawing/2014/main" id="{725ED628-9CDE-464F-8881-84B3B4CD1BF1}"/>
              </a:ext>
            </a:extLst>
          </p:cNvPr>
          <p:cNvSpPr>
            <a:spLocks xmlns:a="http://schemas.openxmlformats.org/drawingml/2006/main" noGrp="1"/>
          </p:cNvSpPr>
          <p:nvPr/>
        </p:nvSpPr>
        <p:spPr>
          <a:xfrm xmlns:a="http://schemas.openxmlformats.org/drawingml/2006/main">
            <a:off x="10953750" y="63341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477"/>
                </a:solidFill>
                <a:latin typeface="Arial"/>
                <a:ea typeface="Arial"/>
                <a:cs typeface="Arial"/>
              </a:defRPr>
            </a:pPr>
            <a:r>
              <a:rPr sz="1350" b="0">
                <a:solidFill>
                  <a:srgbClr val="506477"/>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288DF4F5-CCB5-41C5-A1D0-FB78A7FC213D}"/>
              </a:ext>
            </a:extLst>
          </p:cNvPr>
          <p:cNvSpPr>
            <a:spLocks xmlns:a="http://schemas.openxmlformats.org/drawingml/2006/main" noGrp="1"/>
          </p:cNvSpPr>
          <p:nvPr/>
        </p:nvSpPr>
        <p:spPr>
          <a:xfrm xmlns:a="http://schemas.openxmlformats.org/drawingml/2006/main">
            <a:off x="685800" y="2552700"/>
            <a:ext cx="304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6F77"/>
                </a:solidFill>
                <a:latin typeface="Arial"/>
                <a:ea typeface="Arial"/>
                <a:cs typeface="Arial"/>
              </a:defRPr>
            </a:pPr>
            <a:r>
              <a:rPr sz="2250" b="1">
                <a:solidFill>
                  <a:srgbClr val="006F77"/>
                </a:solidFill>
                <a:latin typeface="Arial"/>
                <a:ea typeface="Arial"/>
                <a:cs typeface="Arial"/>
              </a:rPr>
              <a:t>Signature</a:t>
            </a:r>
          </a:p>
        </p:txBody>
      </p:sp>
      <p:sp>
        <p:nvSpPr>
          <p:cNvPr id="6" name="">
            <a:extLst xmlns:a="http://schemas.openxmlformats.org/drawingml/2006/main">
              <a:ext uri="{FF2B5EF4-FFF2-40B4-BE49-F238E27FC236}">
                <a16:creationId xmlns:a16="http://schemas.microsoft.com/office/drawing/2014/main" id="{5E7375A5-1373-47E8-BBDB-8C8468C1B779}"/>
              </a:ext>
            </a:extLst>
          </p:cNvPr>
          <p:cNvSpPr>
            <a:spLocks xmlns:a="http://schemas.openxmlformats.org/drawingml/2006/main" noGrp="1"/>
          </p:cNvSpPr>
          <p:nvPr/>
        </p:nvSpPr>
        <p:spPr>
          <a:xfrm xmlns:a="http://schemas.openxmlformats.org/drawingml/2006/main">
            <a:off x="3943350" y="2552700"/>
            <a:ext cx="7562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539"/>
                </a:solidFill>
                <a:latin typeface="Arial"/>
                <a:ea typeface="Arial"/>
                <a:cs typeface="Arial"/>
              </a:defRPr>
            </a:pPr>
            <a:r>
              <a:rPr sz="2100" b="0">
                <a:solidFill>
                  <a:srgbClr val="102539"/>
                </a:solidFill>
                <a:latin typeface="Arial"/>
                <a:ea typeface="Arial"/>
                <a:cs typeface="Arial"/>
              </a:rPr>
              <a:t>Down link, loss while up, congestion, CPU or flapping</a:t>
            </a:r>
          </a:p>
        </p:txBody>
      </p:sp>
      <p:sp>
        <p:nvSpPr>
          <p:cNvPr id="7" name="">
            <a:extLst xmlns:a="http://schemas.openxmlformats.org/drawingml/2006/main">
              <a:ext uri="{FF2B5EF4-FFF2-40B4-BE49-F238E27FC236}">
                <a16:creationId xmlns:a16="http://schemas.microsoft.com/office/drawing/2014/main" id="{85F3B91C-657B-47D5-B690-0B28EB66BB04}"/>
              </a:ext>
            </a:extLst>
          </p:cNvPr>
          <p:cNvSpPr>
            <a:spLocks xmlns:a="http://schemas.openxmlformats.org/drawingml/2006/main" noGrp="1"/>
          </p:cNvSpPr>
          <p:nvPr/>
        </p:nvSpPr>
        <p:spPr>
          <a:xfrm xmlns:a="http://schemas.openxmlformats.org/drawingml/2006/main">
            <a:off x="685800" y="3657600"/>
            <a:ext cx="304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6F77"/>
                </a:solidFill>
                <a:latin typeface="Arial"/>
                <a:ea typeface="Arial"/>
                <a:cs typeface="Arial"/>
              </a:defRPr>
            </a:pPr>
            <a:r>
              <a:rPr sz="2250" b="1">
                <a:solidFill>
                  <a:srgbClr val="006F77"/>
                </a:solidFill>
                <a:latin typeface="Arial"/>
                <a:ea typeface="Arial"/>
                <a:cs typeface="Arial"/>
              </a:rPr>
              <a:t>Path voting</a:t>
            </a:r>
          </a:p>
        </p:txBody>
      </p:sp>
      <p:sp>
        <p:nvSpPr>
          <p:cNvPr id="8" name="">
            <a:extLst xmlns:a="http://schemas.openxmlformats.org/drawingml/2006/main">
              <a:ext uri="{FF2B5EF4-FFF2-40B4-BE49-F238E27FC236}">
                <a16:creationId xmlns:a16="http://schemas.microsoft.com/office/drawing/2014/main" id="{D61471A7-A786-4377-BBF6-AE771CAB66A5}"/>
              </a:ext>
            </a:extLst>
          </p:cNvPr>
          <p:cNvSpPr>
            <a:spLocks xmlns:a="http://schemas.openxmlformats.org/drawingml/2006/main" noGrp="1"/>
          </p:cNvSpPr>
          <p:nvPr/>
        </p:nvSpPr>
        <p:spPr>
          <a:xfrm xmlns:a="http://schemas.openxmlformats.org/drawingml/2006/main">
            <a:off x="3943350" y="3657600"/>
            <a:ext cx="7562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539"/>
                </a:solidFill>
                <a:latin typeface="Arial"/>
                <a:ea typeface="Arial"/>
                <a:cs typeface="Arial"/>
              </a:defRPr>
            </a:pPr>
            <a:r>
              <a:rPr sz="2100" b="0">
                <a:solidFill>
                  <a:srgbClr val="102539"/>
                </a:solidFill>
                <a:latin typeface="Arial"/>
                <a:ea typeface="Arial"/>
                <a:cs typeface="Arial"/>
              </a:rPr>
              <a:t>Which component lies on the failing flows’ routes?</a:t>
            </a:r>
          </a:p>
        </p:txBody>
      </p:sp>
      <p:sp>
        <p:nvSpPr>
          <p:cNvPr id="9" name="">
            <a:extLst xmlns:a="http://schemas.openxmlformats.org/drawingml/2006/main">
              <a:ext uri="{FF2B5EF4-FFF2-40B4-BE49-F238E27FC236}">
                <a16:creationId xmlns:a16="http://schemas.microsoft.com/office/drawing/2014/main" id="{18FD4D5E-3741-40AD-AA3B-BA36B1A3D10A}"/>
              </a:ext>
            </a:extLst>
          </p:cNvPr>
          <p:cNvSpPr>
            <a:spLocks xmlns:a="http://schemas.openxmlformats.org/drawingml/2006/main" noGrp="1"/>
          </p:cNvSpPr>
          <p:nvPr/>
        </p:nvSpPr>
        <p:spPr>
          <a:xfrm xmlns:a="http://schemas.openxmlformats.org/drawingml/2006/main">
            <a:off x="685800" y="4762500"/>
            <a:ext cx="304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6F77"/>
                </a:solidFill>
                <a:latin typeface="Arial"/>
                <a:ea typeface="Arial"/>
                <a:cs typeface="Arial"/>
              </a:defRPr>
            </a:pPr>
            <a:r>
              <a:rPr sz="2250" b="1">
                <a:solidFill>
                  <a:srgbClr val="006F77"/>
                </a:solidFill>
                <a:latin typeface="Arial"/>
                <a:ea typeface="Arial"/>
                <a:cs typeface="Arial"/>
              </a:rPr>
              <a:t>Supported cause</a:t>
            </a:r>
          </a:p>
        </p:txBody>
      </p:sp>
      <p:sp>
        <p:nvSpPr>
          <p:cNvPr id="10" name="">
            <a:extLst xmlns:a="http://schemas.openxmlformats.org/drawingml/2006/main">
              <a:ext uri="{FF2B5EF4-FFF2-40B4-BE49-F238E27FC236}">
                <a16:creationId xmlns:a16="http://schemas.microsoft.com/office/drawing/2014/main" id="{7DEB6D1E-71CF-4B53-9EBE-1190B93FFB6A}"/>
              </a:ext>
            </a:extLst>
          </p:cNvPr>
          <p:cNvSpPr>
            <a:spLocks xmlns:a="http://schemas.openxmlformats.org/drawingml/2006/main" noGrp="1"/>
          </p:cNvSpPr>
          <p:nvPr/>
        </p:nvSpPr>
        <p:spPr>
          <a:xfrm xmlns:a="http://schemas.openxmlformats.org/drawingml/2006/main">
            <a:off x="3943350" y="4762500"/>
            <a:ext cx="7562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539"/>
                </a:solidFill>
                <a:latin typeface="Arial"/>
                <a:ea typeface="Arial"/>
                <a:cs typeface="Arial"/>
              </a:defRPr>
            </a:pPr>
            <a:r>
              <a:rPr sz="2100" b="0">
                <a:solidFill>
                  <a:srgbClr val="102539"/>
                </a:solidFill>
                <a:latin typeface="Arial"/>
                <a:ea typeface="Arial"/>
                <a:cs typeface="Arial"/>
              </a:rPr>
              <a:t>Show evidence; keep ambiguous symptoms uncertain</a:t>
            </a:r>
          </a:p>
        </p:txBody>
      </p:sp>
    </p:spTree>
    <p:extLst>
      <p:ext uri="{BB962C8B-B14F-4D97-AF65-F5344CB8AC3E}">
        <p14:creationId xmlns:p14="http://schemas.microsoft.com/office/powerpoint/2010/main" val="1678766210"/>
      </p:ext>
    </p:extLst>
  </p:cSld>
</p:sld>
</file>

<file path=ppt/slides/slide4.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DB31B5C-C879-4AC7-A5F1-DD9141958CEB}"/>
              </a:ext>
            </a:extLst>
          </p:cNvPr>
          <p:cNvSpPr>
            <a:spLocks xmlns:a="http://schemas.openxmlformats.org/drawingml/2006/main" noGrp="1"/>
          </p:cNvSpPr>
          <p:nvPr/>
        </p:nvSpPr>
        <p:spPr>
          <a:xfrm xmlns:a="http://schemas.openxmlformats.org/drawingml/2006/main">
            <a:off x="685800" y="26670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6F77"/>
                </a:solidFill>
                <a:latin typeface="Arial"/>
                <a:ea typeface="Arial"/>
                <a:cs typeface="Arial"/>
              </a:defRPr>
            </a:pPr>
            <a:r>
              <a:rPr sz="1350" b="1">
                <a:solidFill>
                  <a:srgbClr val="006F77"/>
                </a:solidFill>
                <a:latin typeface="Arial"/>
                <a:ea typeface="Arial"/>
                <a:cs typeface="Arial"/>
              </a:rPr>
              <a:t>NETHEAL  /  NC-04</a:t>
            </a:r>
          </a:p>
        </p:txBody>
      </p:sp>
      <p:sp>
        <p:nvSpPr>
          <p:cNvPr id="2" name="">
            <a:extLst xmlns:a="http://schemas.openxmlformats.org/drawingml/2006/main">
              <a:ext uri="{FF2B5EF4-FFF2-40B4-BE49-F238E27FC236}">
                <a16:creationId xmlns:a16="http://schemas.microsoft.com/office/drawing/2014/main" id="{ADE5582F-6425-49E1-B38D-55E62848236A}"/>
              </a:ext>
            </a:extLst>
          </p:cNvPr>
          <p:cNvSpPr>
            <a:spLocks xmlns:a="http://schemas.openxmlformats.org/drawingml/2006/main" noGrp="1"/>
          </p:cNvSpPr>
          <p:nvPr/>
        </p:nvSpPr>
        <p:spPr>
          <a:xfrm xmlns:a="http://schemas.openxmlformats.org/drawingml/2006/main">
            <a:off x="685800" y="7620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539"/>
                </a:solidFill>
                <a:latin typeface="Arial"/>
                <a:ea typeface="Arial"/>
                <a:cs typeface="Arial"/>
              </a:defRPr>
            </a:pPr>
            <a:r>
              <a:rPr sz="3450" b="1">
                <a:solidFill>
                  <a:srgbClr val="102539"/>
                </a:solidFill>
                <a:latin typeface="Arial"/>
                <a:ea typeface="Arial"/>
                <a:cs typeface="Arial"/>
              </a:rPr>
              <a:t>Guarded repair and verification</a:t>
            </a:r>
          </a:p>
        </p:txBody>
      </p:sp>
      <p:sp>
        <p:nvSpPr>
          <p:cNvPr id="3" name="">
            <a:extLst xmlns:a="http://schemas.openxmlformats.org/drawingml/2006/main">
              <a:ext uri="{FF2B5EF4-FFF2-40B4-BE49-F238E27FC236}">
                <a16:creationId xmlns:a16="http://schemas.microsoft.com/office/drawing/2014/main" id="{A5B1DABE-532C-4BD6-9647-9B8FBE49523C}"/>
              </a:ext>
            </a:extLst>
          </p:cNvPr>
          <p:cNvSpPr>
            <a:spLocks xmlns:a="http://schemas.openxmlformats.org/drawingml/2006/main" noGrp="1"/>
          </p:cNvSpPr>
          <p:nvPr/>
        </p:nvSpPr>
        <p:spPr>
          <a:xfrm xmlns:a="http://schemas.openxmlformats.org/drawingml/2006/main">
            <a:off x="685800" y="16954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477"/>
                </a:solidFill>
                <a:latin typeface="Arial"/>
                <a:ea typeface="Arial"/>
                <a:cs typeface="Arial"/>
              </a:defRPr>
            </a:pPr>
            <a:r>
              <a:rPr sz="1950" b="0">
                <a:solidFill>
                  <a:srgbClr val="506477"/>
                </a:solidFill>
                <a:latin typeface="Arial"/>
                <a:ea typeface="Arial"/>
                <a:cs typeface="Arial"/>
              </a:rPr>
              <a:t>A proposed route must restore service without harming others</a:t>
            </a:r>
          </a:p>
        </p:txBody>
      </p:sp>
      <p:sp>
        <p:nvSpPr>
          <p:cNvPr id="4" name="">
            <a:extLst xmlns:a="http://schemas.openxmlformats.org/drawingml/2006/main">
              <a:ext uri="{FF2B5EF4-FFF2-40B4-BE49-F238E27FC236}">
                <a16:creationId xmlns:a16="http://schemas.microsoft.com/office/drawing/2014/main" id="{E0ACF0DA-0E13-4617-A428-FDE0DA6A4763}"/>
              </a:ext>
            </a:extLst>
          </p:cNvPr>
          <p:cNvSpPr>
            <a:spLocks xmlns:a="http://schemas.openxmlformats.org/drawingml/2006/main" noGrp="1"/>
          </p:cNvSpPr>
          <p:nvPr/>
        </p:nvSpPr>
        <p:spPr>
          <a:xfrm xmlns:a="http://schemas.openxmlformats.org/drawingml/2006/main">
            <a:off x="10953750" y="63341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477"/>
                </a:solidFill>
                <a:latin typeface="Arial"/>
                <a:ea typeface="Arial"/>
                <a:cs typeface="Arial"/>
              </a:defRPr>
            </a:pPr>
            <a:r>
              <a:rPr sz="1350" b="0">
                <a:solidFill>
                  <a:srgbClr val="506477"/>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518AAE1D-3061-40E4-8B65-5CEC58B7C559}"/>
              </a:ext>
            </a:extLst>
          </p:cNvPr>
          <p:cNvSpPr>
            <a:spLocks xmlns:a="http://schemas.openxmlformats.org/drawingml/2006/main" noGrp="1"/>
          </p:cNvSpPr>
          <p:nvPr/>
        </p:nvSpPr>
        <p:spPr>
          <a:xfrm xmlns:a="http://schemas.openxmlformats.org/drawingml/2006/main">
            <a:off x="685800" y="2552700"/>
            <a:ext cx="304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6F77"/>
                </a:solidFill>
                <a:latin typeface="Arial"/>
                <a:ea typeface="Arial"/>
                <a:cs typeface="Arial"/>
              </a:defRPr>
            </a:pPr>
            <a:r>
              <a:rPr sz="2250" b="1">
                <a:solidFill>
                  <a:srgbClr val="006F77"/>
                </a:solidFill>
                <a:latin typeface="Arial"/>
                <a:ea typeface="Arial"/>
                <a:cs typeface="Arial"/>
              </a:rPr>
              <a:t>Plan and test</a:t>
            </a:r>
          </a:p>
        </p:txBody>
      </p:sp>
      <p:sp>
        <p:nvSpPr>
          <p:cNvPr id="6" name="">
            <a:extLst xmlns:a="http://schemas.openxmlformats.org/drawingml/2006/main">
              <a:ext uri="{FF2B5EF4-FFF2-40B4-BE49-F238E27FC236}">
                <a16:creationId xmlns:a16="http://schemas.microsoft.com/office/drawing/2014/main" id="{B45EF62F-4B18-4FB7-BEE6-C987EEAC5246}"/>
              </a:ext>
            </a:extLst>
          </p:cNvPr>
          <p:cNvSpPr>
            <a:spLocks xmlns:a="http://schemas.openxmlformats.org/drawingml/2006/main" noGrp="1"/>
          </p:cNvSpPr>
          <p:nvPr/>
        </p:nvSpPr>
        <p:spPr>
          <a:xfrm xmlns:a="http://schemas.openxmlformats.org/drawingml/2006/main">
            <a:off x="3943350" y="2552700"/>
            <a:ext cx="7562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539"/>
                </a:solidFill>
                <a:latin typeface="Arial"/>
                <a:ea typeface="Arial"/>
                <a:cs typeface="Arial"/>
              </a:defRPr>
            </a:pPr>
            <a:r>
              <a:rPr sz="2100" b="0">
                <a:solidFill>
                  <a:srgbClr val="102539"/>
                </a:solidFill>
                <a:latin typeface="Arial"/>
                <a:ea typeface="Arial"/>
                <a:cs typeface="Arial"/>
              </a:rPr>
              <a:t>A copied network, current evidence and policy limits</a:t>
            </a:r>
          </a:p>
        </p:txBody>
      </p:sp>
      <p:sp>
        <p:nvSpPr>
          <p:cNvPr id="7" name="">
            <a:extLst xmlns:a="http://schemas.openxmlformats.org/drawingml/2006/main">
              <a:ext uri="{FF2B5EF4-FFF2-40B4-BE49-F238E27FC236}">
                <a16:creationId xmlns:a16="http://schemas.microsoft.com/office/drawing/2014/main" id="{287950A4-7C05-4AF9-901C-343347BA62DD}"/>
              </a:ext>
            </a:extLst>
          </p:cNvPr>
          <p:cNvSpPr>
            <a:spLocks xmlns:a="http://schemas.openxmlformats.org/drawingml/2006/main" noGrp="1"/>
          </p:cNvSpPr>
          <p:nvPr/>
        </p:nvSpPr>
        <p:spPr>
          <a:xfrm xmlns:a="http://schemas.openxmlformats.org/drawingml/2006/main">
            <a:off x="685800" y="3657600"/>
            <a:ext cx="304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6F77"/>
                </a:solidFill>
                <a:latin typeface="Arial"/>
                <a:ea typeface="Arial"/>
                <a:cs typeface="Arial"/>
              </a:defRPr>
            </a:pPr>
            <a:r>
              <a:rPr sz="2250" b="1">
                <a:solidFill>
                  <a:srgbClr val="006F77"/>
                </a:solidFill>
                <a:latin typeface="Arial"/>
                <a:ea typeface="Arial"/>
                <a:cs typeface="Arial"/>
              </a:rPr>
              <a:t>Apply under autonomy</a:t>
            </a:r>
          </a:p>
        </p:txBody>
      </p:sp>
      <p:sp>
        <p:nvSpPr>
          <p:cNvPr id="8" name="">
            <a:extLst xmlns:a="http://schemas.openxmlformats.org/drawingml/2006/main">
              <a:ext uri="{FF2B5EF4-FFF2-40B4-BE49-F238E27FC236}">
                <a16:creationId xmlns:a16="http://schemas.microsoft.com/office/drawing/2014/main" id="{C6ACCF77-A5E7-400B-8AC6-44BE6FC14455}"/>
              </a:ext>
            </a:extLst>
          </p:cNvPr>
          <p:cNvSpPr>
            <a:spLocks xmlns:a="http://schemas.openxmlformats.org/drawingml/2006/main" noGrp="1"/>
          </p:cNvSpPr>
          <p:nvPr/>
        </p:nvSpPr>
        <p:spPr>
          <a:xfrm xmlns:a="http://schemas.openxmlformats.org/drawingml/2006/main">
            <a:off x="3943350" y="3657600"/>
            <a:ext cx="7562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539"/>
                </a:solidFill>
                <a:latin typeface="Arial"/>
                <a:ea typeface="Arial"/>
                <a:cs typeface="Arial"/>
              </a:defRPr>
            </a:pPr>
            <a:r>
              <a:rPr sz="2100" b="0">
                <a:solidFill>
                  <a:srgbClr val="102539"/>
                </a:solidFill>
                <a:latin typeface="Arial"/>
                <a:ea typeface="Arial"/>
                <a:cs typeface="Arial"/>
              </a:rPr>
              <a:t>Fresh approval when required; explicit failure outcomes</a:t>
            </a:r>
          </a:p>
        </p:txBody>
      </p:sp>
      <p:sp>
        <p:nvSpPr>
          <p:cNvPr id="9" name="">
            <a:extLst xmlns:a="http://schemas.openxmlformats.org/drawingml/2006/main">
              <a:ext uri="{FF2B5EF4-FFF2-40B4-BE49-F238E27FC236}">
                <a16:creationId xmlns:a16="http://schemas.microsoft.com/office/drawing/2014/main" id="{D5D3B885-905A-49D9-B2E6-79C326472054}"/>
              </a:ext>
            </a:extLst>
          </p:cNvPr>
          <p:cNvSpPr>
            <a:spLocks xmlns:a="http://schemas.openxmlformats.org/drawingml/2006/main" noGrp="1"/>
          </p:cNvSpPr>
          <p:nvPr/>
        </p:nvSpPr>
        <p:spPr>
          <a:xfrm xmlns:a="http://schemas.openxmlformats.org/drawingml/2006/main">
            <a:off x="685800" y="4762500"/>
            <a:ext cx="304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6F77"/>
                </a:solidFill>
                <a:latin typeface="Arial"/>
                <a:ea typeface="Arial"/>
                <a:cs typeface="Arial"/>
              </a:defRPr>
            </a:pPr>
            <a:r>
              <a:rPr sz="2250" b="1">
                <a:solidFill>
                  <a:srgbClr val="006F77"/>
                </a:solidFill>
                <a:latin typeface="Arial"/>
                <a:ea typeface="Arial"/>
                <a:cs typeface="Arial"/>
              </a:rPr>
              <a:t>Measure every flow</a:t>
            </a:r>
          </a:p>
        </p:txBody>
      </p:sp>
      <p:sp>
        <p:nvSpPr>
          <p:cNvPr id="10" name="">
            <a:extLst xmlns:a="http://schemas.openxmlformats.org/drawingml/2006/main">
              <a:ext uri="{FF2B5EF4-FFF2-40B4-BE49-F238E27FC236}">
                <a16:creationId xmlns:a16="http://schemas.microsoft.com/office/drawing/2014/main" id="{7F7A3A4F-1910-4D3A-9916-2A4808300DB2}"/>
              </a:ext>
            </a:extLst>
          </p:cNvPr>
          <p:cNvSpPr>
            <a:spLocks xmlns:a="http://schemas.openxmlformats.org/drawingml/2006/main" noGrp="1"/>
          </p:cNvSpPr>
          <p:nvPr/>
        </p:nvSpPr>
        <p:spPr>
          <a:xfrm xmlns:a="http://schemas.openxmlformats.org/drawingml/2006/main">
            <a:off x="3943350" y="4762500"/>
            <a:ext cx="7562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539"/>
                </a:solidFill>
                <a:latin typeface="Arial"/>
                <a:ea typeface="Arial"/>
                <a:cs typeface="Arial"/>
              </a:defRPr>
            </a:pPr>
            <a:r>
              <a:rPr sz="2100" b="0">
                <a:solidFill>
                  <a:srgbClr val="102539"/>
                </a:solidFill>
                <a:latin typeface="Arial"/>
                <a:ea typeface="Arial"/>
                <a:cs typeface="Arial"/>
              </a:rPr>
              <a:t>Loss &lt;1%   ·   latency ≤1.1× baseline   ·   load ≤85%</a:t>
            </a:r>
          </a:p>
        </p:txBody>
      </p:sp>
    </p:spTree>
    <p:extLst>
      <p:ext uri="{BB962C8B-B14F-4D97-AF65-F5344CB8AC3E}">
        <p14:creationId xmlns:p14="http://schemas.microsoft.com/office/powerpoint/2010/main" val="31748351"/>
      </p:ext>
    </p:extLst>
  </p:cSld>
</p:sld>
</file>

<file path=ppt/slides/slide5.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ECECEB-C165-4648-B9F2-39C66D323913}"/>
              </a:ext>
            </a:extLst>
          </p:cNvPr>
          <p:cNvSpPr>
            <a:spLocks xmlns:a="http://schemas.openxmlformats.org/drawingml/2006/main" noGrp="1"/>
          </p:cNvSpPr>
          <p:nvPr/>
        </p:nvSpPr>
        <p:spPr>
          <a:xfrm xmlns:a="http://schemas.openxmlformats.org/drawingml/2006/main">
            <a:off x="685800" y="26670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6F77"/>
                </a:solidFill>
                <a:latin typeface="Arial"/>
                <a:ea typeface="Arial"/>
                <a:cs typeface="Arial"/>
              </a:defRPr>
            </a:pPr>
            <a:r>
              <a:rPr sz="1350" b="1">
                <a:solidFill>
                  <a:srgbClr val="006F77"/>
                </a:solidFill>
                <a:latin typeface="Arial"/>
                <a:ea typeface="Arial"/>
                <a:cs typeface="Arial"/>
              </a:rPr>
              <a:t>NETHEAL  /  NC-04</a:t>
            </a:r>
          </a:p>
        </p:txBody>
      </p:sp>
      <p:sp>
        <p:nvSpPr>
          <p:cNvPr id="2" name="">
            <a:extLst xmlns:a="http://schemas.openxmlformats.org/drawingml/2006/main">
              <a:ext uri="{FF2B5EF4-FFF2-40B4-BE49-F238E27FC236}">
                <a16:creationId xmlns:a16="http://schemas.microsoft.com/office/drawing/2014/main" id="{386BAD6F-A863-40FF-A6E7-3E92404CD6D4}"/>
              </a:ext>
            </a:extLst>
          </p:cNvPr>
          <p:cNvSpPr>
            <a:spLocks xmlns:a="http://schemas.openxmlformats.org/drawingml/2006/main" noGrp="1"/>
          </p:cNvSpPr>
          <p:nvPr/>
        </p:nvSpPr>
        <p:spPr>
          <a:xfrm xmlns:a="http://schemas.openxmlformats.org/drawingml/2006/main">
            <a:off x="685800" y="7620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539"/>
                </a:solidFill>
                <a:latin typeface="Arial"/>
                <a:ea typeface="Arial"/>
                <a:cs typeface="Arial"/>
              </a:defRPr>
            </a:pPr>
            <a:r>
              <a:rPr sz="3450" b="1">
                <a:solidFill>
                  <a:srgbClr val="102539"/>
                </a:solidFill>
                <a:latin typeface="Arial"/>
                <a:ea typeface="Arial"/>
                <a:cs typeface="Arial"/>
              </a:rPr>
              <a:t>Evaluation design</a:t>
            </a:r>
          </a:p>
        </p:txBody>
      </p:sp>
      <p:sp>
        <p:nvSpPr>
          <p:cNvPr id="3" name="">
            <a:extLst xmlns:a="http://schemas.openxmlformats.org/drawingml/2006/main">
              <a:ext uri="{FF2B5EF4-FFF2-40B4-BE49-F238E27FC236}">
                <a16:creationId xmlns:a16="http://schemas.microsoft.com/office/drawing/2014/main" id="{893929FB-BE6C-4356-B9FC-923FF09F6DBD}"/>
              </a:ext>
            </a:extLst>
          </p:cNvPr>
          <p:cNvSpPr>
            <a:spLocks xmlns:a="http://schemas.openxmlformats.org/drawingml/2006/main" noGrp="1"/>
          </p:cNvSpPr>
          <p:nvPr/>
        </p:nvSpPr>
        <p:spPr>
          <a:xfrm xmlns:a="http://schemas.openxmlformats.org/drawingml/2006/main">
            <a:off x="685800" y="16954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477"/>
                </a:solidFill>
                <a:latin typeface="Arial"/>
                <a:ea typeface="Arial"/>
                <a:cs typeface="Arial"/>
              </a:defRPr>
            </a:pPr>
            <a:r>
              <a:rPr sz="1950" b="0">
                <a:solidFill>
                  <a:srgbClr val="506477"/>
                </a:solidFill>
                <a:latin typeface="Arial"/>
                <a:ea typeface="Arial"/>
                <a:cs typeface="Arial"/>
              </a:rPr>
              <a:t>Repeatable scenarios, fixed denominators and sustained recovery</a:t>
            </a:r>
          </a:p>
        </p:txBody>
      </p:sp>
      <p:sp>
        <p:nvSpPr>
          <p:cNvPr id="4" name="">
            <a:extLst xmlns:a="http://schemas.openxmlformats.org/drawingml/2006/main">
              <a:ext uri="{FF2B5EF4-FFF2-40B4-BE49-F238E27FC236}">
                <a16:creationId xmlns:a16="http://schemas.microsoft.com/office/drawing/2014/main" id="{931FC01D-58F3-4631-BA0B-A251098A6AD5}"/>
              </a:ext>
            </a:extLst>
          </p:cNvPr>
          <p:cNvSpPr>
            <a:spLocks xmlns:a="http://schemas.openxmlformats.org/drawingml/2006/main" noGrp="1"/>
          </p:cNvSpPr>
          <p:nvPr/>
        </p:nvSpPr>
        <p:spPr>
          <a:xfrm xmlns:a="http://schemas.openxmlformats.org/drawingml/2006/main">
            <a:off x="10953750" y="63341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477"/>
                </a:solidFill>
                <a:latin typeface="Arial"/>
                <a:ea typeface="Arial"/>
                <a:cs typeface="Arial"/>
              </a:defRPr>
            </a:pPr>
            <a:r>
              <a:rPr sz="1350" b="0">
                <a:solidFill>
                  <a:srgbClr val="506477"/>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80A0BEC8-17B7-4BEB-AF88-1124E7B268E2}"/>
              </a:ext>
            </a:extLst>
          </p:cNvPr>
          <p:cNvSpPr>
            <a:spLocks xmlns:a="http://schemas.openxmlformats.org/drawingml/2006/main" noGrp="1"/>
          </p:cNvSpPr>
          <p:nvPr/>
        </p:nvSpPr>
        <p:spPr>
          <a:xfrm xmlns:a="http://schemas.openxmlformats.org/drawingml/2006/main">
            <a:off x="685800" y="25908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6F77"/>
                </a:solidFill>
                <a:latin typeface="Arial"/>
                <a:ea typeface="Arial"/>
                <a:cs typeface="Arial"/>
              </a:defRPr>
            </a:pPr>
            <a:r>
              <a:rPr sz="2850" b="1">
                <a:solidFill>
                  <a:srgbClr val="006F77"/>
                </a:solidFill>
                <a:latin typeface="Arial"/>
                <a:ea typeface="Arial"/>
                <a:cs typeface="Arial"/>
              </a:rPr>
              <a:t>300 nominal scenarios × 7 policies</a:t>
            </a:r>
          </a:p>
        </p:txBody>
      </p:sp>
      <p:sp>
        <p:nvSpPr>
          <p:cNvPr id="6" name="">
            <a:extLst xmlns:a="http://schemas.openxmlformats.org/drawingml/2006/main">
              <a:ext uri="{FF2B5EF4-FFF2-40B4-BE49-F238E27FC236}">
                <a16:creationId xmlns:a16="http://schemas.microsoft.com/office/drawing/2014/main" id="{CA93AD7D-B6BD-44B9-A647-A6ED81D95905}"/>
              </a:ext>
            </a:extLst>
          </p:cNvPr>
          <p:cNvSpPr>
            <a:spLocks xmlns:a="http://schemas.openxmlformats.org/drawingml/2006/main" noGrp="1"/>
          </p:cNvSpPr>
          <p:nvPr/>
        </p:nvSpPr>
        <p:spPr>
          <a:xfrm xmlns:a="http://schemas.openxmlformats.org/drawingml/2006/main">
            <a:off x="685800" y="34671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02539"/>
                </a:solidFill>
                <a:latin typeface="Arial"/>
                <a:ea typeface="Arial"/>
                <a:cs typeface="Arial"/>
              </a:defRPr>
            </a:pPr>
            <a:r>
              <a:rPr sz="2250" b="0">
                <a:solidFill>
                  <a:srgbClr val="102539"/>
                </a:solidFill>
                <a:latin typeface="Arial"/>
                <a:ea typeface="Arial"/>
                <a:cs typeface="Arial"/>
              </a:rPr>
              <a:t>100 separate scenarios with hidden delay mismatch</a:t>
            </a:r>
          </a:p>
        </p:txBody>
      </p:sp>
      <p:sp>
        <p:nvSpPr>
          <p:cNvPr id="7" name="">
            <a:extLst xmlns:a="http://schemas.openxmlformats.org/drawingml/2006/main">
              <a:ext uri="{FF2B5EF4-FFF2-40B4-BE49-F238E27FC236}">
                <a16:creationId xmlns:a16="http://schemas.microsoft.com/office/drawing/2014/main" id="{286DDE49-B8EA-4633-8D14-0D5DF689711D}"/>
              </a:ext>
            </a:extLst>
          </p:cNvPr>
          <p:cNvSpPr>
            <a:spLocks xmlns:a="http://schemas.openxmlformats.org/drawingml/2006/main" noGrp="1"/>
          </p:cNvSpPr>
          <p:nvPr/>
        </p:nvSpPr>
        <p:spPr>
          <a:xfrm xmlns:a="http://schemas.openxmlformats.org/drawingml/2006/main">
            <a:off x="685800" y="44767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02539"/>
                </a:solidFill>
                <a:latin typeface="Arial"/>
                <a:ea typeface="Arial"/>
                <a:cs typeface="Arial"/>
              </a:defRPr>
            </a:pPr>
            <a:r>
              <a:rPr sz="2250" b="0">
                <a:solidFill>
                  <a:srgbClr val="102539"/>
                </a:solidFill>
                <a:latin typeface="Arial"/>
                <a:ea typeface="Arial"/>
                <a:cs typeface="Arial"/>
              </a:rPr>
              <a:t>Same scenario seeds • original affected services • last 10 s healthy</a:t>
            </a:r>
          </a:p>
        </p:txBody>
      </p:sp>
      <p:sp>
        <p:nvSpPr>
          <p:cNvPr id="8" name="">
            <a:extLst xmlns:a="http://schemas.openxmlformats.org/drawingml/2006/main">
              <a:ext uri="{FF2B5EF4-FFF2-40B4-BE49-F238E27FC236}">
                <a16:creationId xmlns:a16="http://schemas.microsoft.com/office/drawing/2014/main" id="{AA300B60-7C29-4FBA-8A09-3C84E8C6A3B1}"/>
              </a:ext>
            </a:extLst>
          </p:cNvPr>
          <p:cNvSpPr>
            <a:spLocks xmlns:a="http://schemas.openxmlformats.org/drawingml/2006/main" noGrp="1"/>
          </p:cNvSpPr>
          <p:nvPr/>
        </p:nvSpPr>
        <p:spPr>
          <a:xfrm xmlns:a="http://schemas.openxmlformats.org/drawingml/2006/main">
            <a:off x="685800" y="56769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477"/>
                </a:solidFill>
                <a:latin typeface="Arial"/>
                <a:ea typeface="Arial"/>
                <a:cs typeface="Arial"/>
              </a:defRPr>
            </a:pPr>
            <a:r>
              <a:rPr sz="1800" b="0">
                <a:solidFill>
                  <a:srgbClr val="506477"/>
                </a:solidFill>
                <a:latin typeface="Arial"/>
                <a:ea typeface="Arial"/>
                <a:cs typeface="Arial"/>
              </a:rPr>
              <a:t>Recovery counts + uncertainty + collateral effects + unknown diagnoses</a:t>
            </a:r>
          </a:p>
        </p:txBody>
      </p:sp>
    </p:spTree>
    <p:extLst>
      <p:ext uri="{BB962C8B-B14F-4D97-AF65-F5344CB8AC3E}">
        <p14:creationId xmlns:p14="http://schemas.microsoft.com/office/powerpoint/2010/main" val="285818601"/>
      </p:ext>
    </p:extLst>
  </p:cSld>
</p:sld>
</file>

<file path=ppt/slides/slide6.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3AECF8-BDEC-4309-B8F2-EFC37C17EA4C}"/>
              </a:ext>
            </a:extLst>
          </p:cNvPr>
          <p:cNvSpPr>
            <a:spLocks xmlns:a="http://schemas.openxmlformats.org/drawingml/2006/main" noGrp="1"/>
          </p:cNvSpPr>
          <p:nvPr/>
        </p:nvSpPr>
        <p:spPr>
          <a:xfrm xmlns:a="http://schemas.openxmlformats.org/drawingml/2006/main">
            <a:off x="685800" y="26670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6F77"/>
                </a:solidFill>
                <a:latin typeface="Arial"/>
                <a:ea typeface="Arial"/>
                <a:cs typeface="Arial"/>
              </a:defRPr>
            </a:pPr>
            <a:r>
              <a:rPr sz="1350" b="1">
                <a:solidFill>
                  <a:srgbClr val="006F77"/>
                </a:solidFill>
                <a:latin typeface="Arial"/>
                <a:ea typeface="Arial"/>
                <a:cs typeface="Arial"/>
              </a:rPr>
              <a:t>NETHEAL  /  NC-04</a:t>
            </a:r>
          </a:p>
        </p:txBody>
      </p:sp>
      <p:sp>
        <p:nvSpPr>
          <p:cNvPr id="2" name="">
            <a:extLst xmlns:a="http://schemas.openxmlformats.org/drawingml/2006/main">
              <a:ext uri="{FF2B5EF4-FFF2-40B4-BE49-F238E27FC236}">
                <a16:creationId xmlns:a16="http://schemas.microsoft.com/office/drawing/2014/main" id="{6993D1CB-7FFA-4A7B-A59F-151FE1AA8503}"/>
              </a:ext>
            </a:extLst>
          </p:cNvPr>
          <p:cNvSpPr>
            <a:spLocks xmlns:a="http://schemas.openxmlformats.org/drawingml/2006/main" noGrp="1"/>
          </p:cNvSpPr>
          <p:nvPr/>
        </p:nvSpPr>
        <p:spPr>
          <a:xfrm xmlns:a="http://schemas.openxmlformats.org/drawingml/2006/main">
            <a:off x="685800" y="7620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539"/>
                </a:solidFill>
                <a:latin typeface="Arial"/>
                <a:ea typeface="Arial"/>
                <a:cs typeface="Arial"/>
              </a:defRPr>
            </a:pPr>
            <a:r>
              <a:rPr sz="3450" b="1">
                <a:solidFill>
                  <a:srgbClr val="102539"/>
                </a:solidFill>
                <a:latin typeface="Arial"/>
                <a:ea typeface="Arial"/>
                <a:cs typeface="Arial"/>
              </a:rPr>
              <a:t>Measured sustained recovery</a:t>
            </a:r>
          </a:p>
        </p:txBody>
      </p:sp>
      <p:sp>
        <p:nvSpPr>
          <p:cNvPr id="3" name="">
            <a:extLst xmlns:a="http://schemas.openxmlformats.org/drawingml/2006/main">
              <a:ext uri="{FF2B5EF4-FFF2-40B4-BE49-F238E27FC236}">
                <a16:creationId xmlns:a16="http://schemas.microsoft.com/office/drawing/2014/main" id="{322A59BB-01B1-43EE-9FB1-B3ECF22CD1F8}"/>
              </a:ext>
            </a:extLst>
          </p:cNvPr>
          <p:cNvSpPr>
            <a:spLocks xmlns:a="http://schemas.openxmlformats.org/drawingml/2006/main" noGrp="1"/>
          </p:cNvSpPr>
          <p:nvPr/>
        </p:nvSpPr>
        <p:spPr>
          <a:xfrm xmlns:a="http://schemas.openxmlformats.org/drawingml/2006/main">
            <a:off x="685800" y="16954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477"/>
                </a:solidFill>
                <a:latin typeface="Arial"/>
                <a:ea typeface="Arial"/>
                <a:cs typeface="Arial"/>
              </a:defRPr>
            </a:pPr>
            <a:r>
              <a:rPr sz="1950" b="0">
                <a:solidFill>
                  <a:srgbClr val="506477"/>
                </a:solidFill>
                <a:latin typeface="Arial"/>
                <a:ea typeface="Arial"/>
                <a:cs typeface="Arial"/>
              </a:rPr>
              <a:t>148 originally affected scenarios · strict SLA throughout the final 10 s</a:t>
            </a:r>
          </a:p>
        </p:txBody>
      </p:sp>
      <p:sp>
        <p:nvSpPr>
          <p:cNvPr id="4" name="">
            <a:extLst xmlns:a="http://schemas.openxmlformats.org/drawingml/2006/main">
              <a:ext uri="{FF2B5EF4-FFF2-40B4-BE49-F238E27FC236}">
                <a16:creationId xmlns:a16="http://schemas.microsoft.com/office/drawing/2014/main" id="{79EA9DDC-956A-4F8C-977B-13CC1466E79F}"/>
              </a:ext>
            </a:extLst>
          </p:cNvPr>
          <p:cNvSpPr>
            <a:spLocks xmlns:a="http://schemas.openxmlformats.org/drawingml/2006/main" noGrp="1"/>
          </p:cNvSpPr>
          <p:nvPr/>
        </p:nvSpPr>
        <p:spPr>
          <a:xfrm xmlns:a="http://schemas.openxmlformats.org/drawingml/2006/main">
            <a:off x="10953750" y="63341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477"/>
                </a:solidFill>
                <a:latin typeface="Arial"/>
                <a:ea typeface="Arial"/>
                <a:cs typeface="Arial"/>
              </a:defRPr>
            </a:pPr>
            <a:r>
              <a:rPr sz="1350" b="0">
                <a:solidFill>
                  <a:srgbClr val="506477"/>
                </a:solidFill>
                <a:latin typeface="Arial"/>
                <a:ea typeface="Arial"/>
                <a:cs typeface="Arial"/>
              </a:rPr>
              <a:t>06</a:t>
            </a:r>
          </a:p>
        </p:txBody>
      </p:sp>
      <p:graphicFrame>
        <p:nvGraphicFramePr>
          <p:cNvPr id="11" name="Chart"/>
          <p:cNvGraphicFramePr/>
          <p:nvPr/>
        </p:nvGraphicFramePr>
        <p:xfrm>
          <a:off xmlns:a="http://schemas.openxmlformats.org/drawingml/2006/main" x="685800" y="2476500"/>
          <a:ext xmlns:a="http://schemas.openxmlformats.org/drawingml/2006/main" cx="10820400" cy="3257550"/>
        </p:xfrm>
        <a:graphic xmlns:a="http://schemas.openxmlformats.org/drawingml/2006/main">
          <a:graphicData uri="http://schemas.openxmlformats.org/drawingml/2006/chart">
            <c:chart xmlns:r="http://schemas.openxmlformats.org/officeDocument/2006/relationships" xmlns:c="http://schemas.openxmlformats.org/drawingml/2006/chart" r:id="R8ffbb7056098487b"/>
          </a:graphicData>
        </a:graphic>
      </p:graphicFrame>
      <p:sp>
        <p:nvSpPr>
          <p:cNvPr id="6" name="">
            <a:extLst xmlns:a="http://schemas.openxmlformats.org/drawingml/2006/main">
              <a:ext uri="{FF2B5EF4-FFF2-40B4-BE49-F238E27FC236}">
                <a16:creationId xmlns:a16="http://schemas.microsoft.com/office/drawing/2014/main" id="{34A3B8A1-B127-4E1E-93D5-99F8B278E53A}"/>
              </a:ext>
            </a:extLst>
          </p:cNvPr>
          <p:cNvSpPr>
            <a:spLocks xmlns:a="http://schemas.openxmlformats.org/drawingml/2006/main" noGrp="1"/>
          </p:cNvSpPr>
          <p:nvPr/>
        </p:nvSpPr>
        <p:spPr>
          <a:xfrm xmlns:a="http://schemas.openxmlformats.org/drawingml/2006/main">
            <a:off x="685800" y="582930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477"/>
                </a:solidFill>
                <a:latin typeface="Arial"/>
                <a:ea typeface="Arial"/>
                <a:cs typeface="Arial"/>
              </a:defRPr>
            </a:pPr>
            <a:r>
              <a:rPr sz="1500" b="0">
                <a:solidFill>
                  <a:srgbClr val="506477"/>
                </a:solidFill>
                <a:latin typeface="Arial"/>
                <a:ea typeface="Arial"/>
                <a:cs typeface="Arial"/>
              </a:rPr>
              <a:t>4 extra recovered with RL, 8 relapses. Overlapping 95% intervals limit the conclusion.</a:t>
            </a:r>
          </a:p>
          <a:p xmlns:a="http://schemas.openxmlformats.org/drawingml/2006/main">
            <a:pPr>
              <a:defRPr sz="1500" b="0">
                <a:solidFill>
                  <a:srgbClr val="506477"/>
                </a:solidFill>
                <a:latin typeface="Arial"/>
                <a:ea typeface="Arial"/>
                <a:cs typeface="Arial"/>
              </a:defRPr>
            </a:pPr>
            <a:r>
              <a:rPr sz="1500" b="0">
                <a:solidFill>
                  <a:srgbClr val="506477"/>
                </a:solidFill>
                <a:latin typeface="Arial"/>
                <a:ea typeface="Arial"/>
                <a:cs typeface="Arial"/>
              </a:rPr>
              <a:t>* Reactive bypasses safety. Compare recovery with collateral harm and escalation.</a:t>
            </a:r>
          </a:p>
        </p:txBody>
      </p:sp>
    </p:spTree>
    <p:extLst>
      <p:ext uri="{BB962C8B-B14F-4D97-AF65-F5344CB8AC3E}">
        <p14:creationId xmlns:p14="http://schemas.microsoft.com/office/powerpoint/2010/main" val="2058226131"/>
      </p:ext>
    </p:extLst>
  </p:cSld>
</p:sld>
</file>

<file path=ppt/slides/slide7.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63697CA-CA44-4762-9FB6-3A863323F0D8}"/>
              </a:ext>
            </a:extLst>
          </p:cNvPr>
          <p:cNvSpPr>
            <a:spLocks xmlns:a="http://schemas.openxmlformats.org/drawingml/2006/main" noGrp="1"/>
          </p:cNvSpPr>
          <p:nvPr/>
        </p:nvSpPr>
        <p:spPr>
          <a:xfrm xmlns:a="http://schemas.openxmlformats.org/drawingml/2006/main">
            <a:off x="685800" y="26670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6F77"/>
                </a:solidFill>
                <a:latin typeface="Arial"/>
                <a:ea typeface="Arial"/>
                <a:cs typeface="Arial"/>
              </a:defRPr>
            </a:pPr>
            <a:r>
              <a:rPr sz="1350" b="1">
                <a:solidFill>
                  <a:srgbClr val="006F77"/>
                </a:solidFill>
                <a:latin typeface="Arial"/>
                <a:ea typeface="Arial"/>
                <a:cs typeface="Arial"/>
              </a:rPr>
              <a:t>NETHEAL  /  NC-04</a:t>
            </a:r>
          </a:p>
        </p:txBody>
      </p:sp>
      <p:sp>
        <p:nvSpPr>
          <p:cNvPr id="2" name="">
            <a:extLst xmlns:a="http://schemas.openxmlformats.org/drawingml/2006/main">
              <a:ext uri="{FF2B5EF4-FFF2-40B4-BE49-F238E27FC236}">
                <a16:creationId xmlns:a16="http://schemas.microsoft.com/office/drawing/2014/main" id="{C72E5AE7-3B69-4F0C-9BA5-A0648AD5A977}"/>
              </a:ext>
            </a:extLst>
          </p:cNvPr>
          <p:cNvSpPr>
            <a:spLocks xmlns:a="http://schemas.openxmlformats.org/drawingml/2006/main" noGrp="1"/>
          </p:cNvSpPr>
          <p:nvPr/>
        </p:nvSpPr>
        <p:spPr>
          <a:xfrm xmlns:a="http://schemas.openxmlformats.org/drawingml/2006/main">
            <a:off x="685800" y="7620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539"/>
                </a:solidFill>
                <a:latin typeface="Arial"/>
                <a:ea typeface="Arial"/>
                <a:cs typeface="Arial"/>
              </a:defRPr>
            </a:pPr>
            <a:r>
              <a:rPr sz="3450" b="1">
                <a:solidFill>
                  <a:srgbClr val="102539"/>
                </a:solidFill>
                <a:latin typeface="Arial"/>
                <a:ea typeface="Arial"/>
                <a:cs typeface="Arial"/>
              </a:rPr>
              <a:t>When the twin misses delay</a:t>
            </a:r>
          </a:p>
        </p:txBody>
      </p:sp>
      <p:sp>
        <p:nvSpPr>
          <p:cNvPr id="3" name="">
            <a:extLst xmlns:a="http://schemas.openxmlformats.org/drawingml/2006/main">
              <a:ext uri="{FF2B5EF4-FFF2-40B4-BE49-F238E27FC236}">
                <a16:creationId xmlns:a16="http://schemas.microsoft.com/office/drawing/2014/main" id="{4C7A28EC-9858-4FEE-A466-771F843622D9}"/>
              </a:ext>
            </a:extLst>
          </p:cNvPr>
          <p:cNvSpPr>
            <a:spLocks xmlns:a="http://schemas.openxmlformats.org/drawingml/2006/main" noGrp="1"/>
          </p:cNvSpPr>
          <p:nvPr/>
        </p:nvSpPr>
        <p:spPr>
          <a:xfrm xmlns:a="http://schemas.openxmlformats.org/drawingml/2006/main">
            <a:off x="685800" y="16954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477"/>
                </a:solidFill>
                <a:latin typeface="Arial"/>
                <a:ea typeface="Arial"/>
                <a:cs typeface="Arial"/>
              </a:defRPr>
            </a:pPr>
            <a:r>
              <a:rPr sz="1950" b="0">
                <a:solidFill>
                  <a:srgbClr val="506477"/>
                </a:solidFill>
                <a:latin typeface="Arial"/>
                <a:ea typeface="Arial"/>
                <a:cs typeface="Arial"/>
              </a:rPr>
              <a:t>Stress experiment with a separate service-impact cohort</a:t>
            </a:r>
          </a:p>
        </p:txBody>
      </p:sp>
      <p:sp>
        <p:nvSpPr>
          <p:cNvPr id="4" name="">
            <a:extLst xmlns:a="http://schemas.openxmlformats.org/drawingml/2006/main">
              <a:ext uri="{FF2B5EF4-FFF2-40B4-BE49-F238E27FC236}">
                <a16:creationId xmlns:a16="http://schemas.microsoft.com/office/drawing/2014/main" id="{EF6AE2D2-AC4B-4273-97EB-EBB015B4B4AA}"/>
              </a:ext>
            </a:extLst>
          </p:cNvPr>
          <p:cNvSpPr>
            <a:spLocks xmlns:a="http://schemas.openxmlformats.org/drawingml/2006/main" noGrp="1"/>
          </p:cNvSpPr>
          <p:nvPr/>
        </p:nvSpPr>
        <p:spPr>
          <a:xfrm xmlns:a="http://schemas.openxmlformats.org/drawingml/2006/main">
            <a:off x="10953750" y="63341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477"/>
                </a:solidFill>
                <a:latin typeface="Arial"/>
                <a:ea typeface="Arial"/>
                <a:cs typeface="Arial"/>
              </a:defRPr>
            </a:pPr>
            <a:r>
              <a:rPr sz="1350" b="0">
                <a:solidFill>
                  <a:srgbClr val="506477"/>
                </a:solidFill>
                <a:latin typeface="Arial"/>
                <a:ea typeface="Arial"/>
                <a:cs typeface="Arial"/>
              </a:rPr>
              <a:t>07</a:t>
            </a:r>
          </a:p>
        </p:txBody>
      </p:sp>
      <p:graphicFrame>
        <p:nvGraphicFramePr>
          <p:cNvPr id="11" name=""/>
          <p:cNvGraphicFramePr/>
          <p:nvPr/>
        </p:nvGraphicFramePr>
        <p:xfrm>
          <a:off xmlns:a="http://schemas.openxmlformats.org/drawingml/2006/main" x="685800" y="2552700"/>
          <a:ext xmlns:a="http://schemas.openxmlformats.org/drawingml/2006/main" cx="10820400" cy="2857500"/>
        </p:xfrm>
        <a:graphic xmlns:a="http://schemas.openxmlformats.org/drawingml/2006/main">
          <a:graphicData uri="http://schemas.openxmlformats.org/drawingml/2006/table">
            <a:tbl>
              <a:tblPr firstRow="1" firstCol="1" bandRow="0"/>
              <a:tblGrid>
                <a:gridCol w="4476750"/>
                <a:gridCol w="2114550"/>
                <a:gridCol w="2114550"/>
                <a:gridCol w="2114550"/>
              </a:tblGrid>
              <a:tr h="571500">
                <a:tc>
                  <a:txBody>
                    <a:bodyPr/>
                    <a:lstStyle/>
                    <a:p>
                      <a:r>
                        <a:rPr sz="2025" b="1">
                          <a:solidFill>
                            <a:srgbClr val="FFFFFF"/>
                          </a:solidFill>
                          <a:latin typeface="Arial"/>
                          <a:ea typeface="Arial"/>
                          <a:cs typeface="Arial"/>
                        </a:rPr>
                        <a:t>Stress outcome</a:t>
                      </a:r>
                    </a:p>
                  </a:txBody>
                  <a:tcPr marL="91440" marR="91440" marT="45720" marB="45720">
                    <a:solidFill>
                      <a:srgbClr val="006F77"/>
                    </a:solidFill>
                  </a:tcPr>
                </a:tc>
                <a:tc>
                  <a:txBody>
                    <a:bodyPr/>
                    <a:lstStyle/>
                    <a:p>
                      <a:r>
                        <a:rPr sz="2025" b="1">
                          <a:solidFill>
                            <a:srgbClr val="FFFFFF"/>
                          </a:solidFill>
                          <a:latin typeface="Arial"/>
                          <a:ea typeface="Arial"/>
                          <a:cs typeface="Arial"/>
                        </a:rPr>
                        <a:t>No heal</a:t>
                      </a:r>
                    </a:p>
                  </a:txBody>
                  <a:tcPr marL="91440" marR="91440" marT="45720" marB="45720">
                    <a:solidFill>
                      <a:srgbClr val="006F77"/>
                    </a:solidFill>
                  </a:tcPr>
                </a:tc>
                <a:tc>
                  <a:txBody>
                    <a:bodyPr/>
                    <a:lstStyle/>
                    <a:p>
                      <a:r>
                        <a:rPr sz="2025" b="1">
                          <a:solidFill>
                            <a:srgbClr val="FFFFFF"/>
                          </a:solidFill>
                          <a:latin typeface="Arial"/>
                          <a:ea typeface="Arial"/>
                          <a:cs typeface="Arial"/>
                        </a:rPr>
                        <a:t>Twin</a:t>
                      </a:r>
                    </a:p>
                  </a:txBody>
                  <a:tcPr marL="91440" marR="91440" marT="45720" marB="45720">
                    <a:solidFill>
                      <a:srgbClr val="006F77"/>
                    </a:solidFill>
                  </a:tcPr>
                </a:tc>
                <a:tc>
                  <a:txBody>
                    <a:bodyPr/>
                    <a:lstStyle/>
                    <a:p>
                      <a:r>
                        <a:rPr sz="2025" b="1">
                          <a:solidFill>
                            <a:srgbClr val="FFFFFF"/>
                          </a:solidFill>
                          <a:latin typeface="Arial"/>
                          <a:ea typeface="Arial"/>
                          <a:cs typeface="Arial"/>
                        </a:rPr>
                        <a:t>RL</a:t>
                      </a:r>
                    </a:p>
                  </a:txBody>
                  <a:tcPr marL="91440" marR="91440" marT="45720" marB="45720">
                    <a:solidFill>
                      <a:srgbClr val="006F77"/>
                    </a:solidFill>
                  </a:tcPr>
                </a:tc>
              </a:tr>
              <a:tr h="571500">
                <a:tc>
                  <a:txBody>
                    <a:bodyPr/>
                    <a:lstStyle/>
                    <a:p>
                      <a:r>
                        <a:rPr sz="2025" b="1">
                          <a:solidFill>
                            <a:srgbClr val="102539"/>
                          </a:solidFill>
                          <a:latin typeface="Arial"/>
                          <a:ea typeface="Arial"/>
                          <a:cs typeface="Arial"/>
                        </a:rPr>
                        <a:t>Sustained recovered</a:t>
                      </a:r>
                    </a:p>
                  </a:txBody>
                  <a:tcPr marL="91440" marR="91440" marT="45720" marB="45720">
                    <a:solidFill>
                      <a:srgbClr val="F7F9FB"/>
                    </a:solidFill>
                  </a:tcPr>
                </a:tc>
                <a:tc>
                  <a:txBody>
                    <a:bodyPr/>
                    <a:lstStyle/>
                    <a:p>
                      <a:r>
                        <a:rPr sz="2025" b="0">
                          <a:solidFill>
                            <a:srgbClr val="102539"/>
                          </a:solidFill>
                          <a:latin typeface="Arial"/>
                          <a:ea typeface="Arial"/>
                          <a:cs typeface="Arial"/>
                        </a:rPr>
                        <a:t>36/92</a:t>
                      </a:r>
                    </a:p>
                  </a:txBody>
                  <a:tcPr marL="91440" marR="91440" marT="45720" marB="45720">
                    <a:solidFill>
                      <a:srgbClr val="F7F9FB"/>
                    </a:solidFill>
                  </a:tcPr>
                </a:tc>
                <a:tc>
                  <a:txBody>
                    <a:bodyPr/>
                    <a:lstStyle/>
                    <a:p>
                      <a:r>
                        <a:rPr sz="2025" b="0">
                          <a:solidFill>
                            <a:srgbClr val="102539"/>
                          </a:solidFill>
                          <a:latin typeface="Arial"/>
                          <a:ea typeface="Arial"/>
                          <a:cs typeface="Arial"/>
                        </a:rPr>
                        <a:t>53/92</a:t>
                      </a:r>
                    </a:p>
                  </a:txBody>
                  <a:tcPr marL="91440" marR="91440" marT="45720" marB="45720">
                    <a:solidFill>
                      <a:srgbClr val="F7F9FB"/>
                    </a:solidFill>
                  </a:tcPr>
                </a:tc>
                <a:tc>
                  <a:txBody>
                    <a:bodyPr/>
                    <a:lstStyle/>
                    <a:p>
                      <a:r>
                        <a:rPr sz="2025" b="0">
                          <a:solidFill>
                            <a:srgbClr val="102539"/>
                          </a:solidFill>
                          <a:latin typeface="Arial"/>
                          <a:ea typeface="Arial"/>
                          <a:cs typeface="Arial"/>
                        </a:rPr>
                        <a:t>54/92</a:t>
                      </a:r>
                    </a:p>
                  </a:txBody>
                  <a:tcPr marL="91440" marR="91440" marT="45720" marB="45720">
                    <a:solidFill>
                      <a:srgbClr val="F7F9FB"/>
                    </a:solidFill>
                  </a:tcPr>
                </a:tc>
              </a:tr>
              <a:tr h="571500">
                <a:tc>
                  <a:txBody>
                    <a:bodyPr/>
                    <a:lstStyle/>
                    <a:p>
                      <a:r>
                        <a:rPr sz="2025" b="1">
                          <a:solidFill>
                            <a:srgbClr val="102539"/>
                          </a:solidFill>
                          <a:latin typeface="Arial"/>
                          <a:ea typeface="Arial"/>
                          <a:cs typeface="Arial"/>
                        </a:rPr>
                        <a:t>Short verified</a:t>
                      </a:r>
                    </a:p>
                  </a:txBody>
                  <a:tcPr marL="91440" marR="91440" marT="45720" marB="45720">
                    <a:solidFill>
                      <a:srgbClr val="EEF3F6"/>
                    </a:solidFill>
                  </a:tcPr>
                </a:tc>
                <a:tc>
                  <a:txBody>
                    <a:bodyPr/>
                    <a:lstStyle/>
                    <a:p>
                      <a:r>
                        <a:rPr sz="2025" b="0">
                          <a:solidFill>
                            <a:srgbClr val="102539"/>
                          </a:solidFill>
                          <a:latin typeface="Arial"/>
                          <a:ea typeface="Arial"/>
                          <a:cs typeface="Arial"/>
                        </a:rPr>
                        <a:t>0/92</a:t>
                      </a:r>
                    </a:p>
                  </a:txBody>
                  <a:tcPr marL="91440" marR="91440" marT="45720" marB="45720">
                    <a:solidFill>
                      <a:srgbClr val="EEF3F6"/>
                    </a:solidFill>
                  </a:tcPr>
                </a:tc>
                <a:tc>
                  <a:txBody>
                    <a:bodyPr/>
                    <a:lstStyle/>
                    <a:p>
                      <a:r>
                        <a:rPr sz="2025" b="0">
                          <a:solidFill>
                            <a:srgbClr val="102539"/>
                          </a:solidFill>
                          <a:latin typeface="Arial"/>
                          <a:ea typeface="Arial"/>
                          <a:cs typeface="Arial"/>
                        </a:rPr>
                        <a:t>17/92</a:t>
                      </a:r>
                    </a:p>
                  </a:txBody>
                  <a:tcPr marL="91440" marR="91440" marT="45720" marB="45720">
                    <a:solidFill>
                      <a:srgbClr val="EEF3F6"/>
                    </a:solidFill>
                  </a:tcPr>
                </a:tc>
                <a:tc>
                  <a:txBody>
                    <a:bodyPr/>
                    <a:lstStyle/>
                    <a:p>
                      <a:r>
                        <a:rPr sz="2025" b="0">
                          <a:solidFill>
                            <a:srgbClr val="102539"/>
                          </a:solidFill>
                          <a:latin typeface="Arial"/>
                          <a:ea typeface="Arial"/>
                          <a:cs typeface="Arial"/>
                        </a:rPr>
                        <a:t>18/92</a:t>
                      </a:r>
                    </a:p>
                  </a:txBody>
                  <a:tcPr marL="91440" marR="91440" marT="45720" marB="45720">
                    <a:solidFill>
                      <a:srgbClr val="EEF3F6"/>
                    </a:solidFill>
                  </a:tcPr>
                </a:tc>
              </a:tr>
              <a:tr h="571500">
                <a:tc>
                  <a:txBody>
                    <a:bodyPr/>
                    <a:lstStyle/>
                    <a:p>
                      <a:r>
                        <a:rPr sz="2025" b="1">
                          <a:solidFill>
                            <a:srgbClr val="102539"/>
                          </a:solidFill>
                          <a:latin typeface="Arial"/>
                          <a:ea typeface="Arial"/>
                          <a:cs typeface="Arial"/>
                        </a:rPr>
                        <a:t>Relapsed</a:t>
                      </a:r>
                    </a:p>
                  </a:txBody>
                  <a:tcPr marL="91440" marR="91440" marT="45720" marB="45720">
                    <a:solidFill>
                      <a:srgbClr val="F7F9FB"/>
                    </a:solidFill>
                  </a:tcPr>
                </a:tc>
                <a:tc>
                  <a:txBody>
                    <a:bodyPr/>
                    <a:lstStyle/>
                    <a:p>
                      <a:r>
                        <a:rPr sz="2025" b="0">
                          <a:solidFill>
                            <a:srgbClr val="102539"/>
                          </a:solidFill>
                          <a:latin typeface="Arial"/>
                          <a:ea typeface="Arial"/>
                          <a:cs typeface="Arial"/>
                        </a:rPr>
                        <a:t>0/92</a:t>
                      </a:r>
                    </a:p>
                  </a:txBody>
                  <a:tcPr marL="91440" marR="91440" marT="45720" marB="45720">
                    <a:solidFill>
                      <a:srgbClr val="F7F9FB"/>
                    </a:solidFill>
                  </a:tcPr>
                </a:tc>
                <a:tc>
                  <a:txBody>
                    <a:bodyPr/>
                    <a:lstStyle/>
                    <a:p>
                      <a:r>
                        <a:rPr sz="2025" b="0">
                          <a:solidFill>
                            <a:srgbClr val="102539"/>
                          </a:solidFill>
                          <a:latin typeface="Arial"/>
                          <a:ea typeface="Arial"/>
                          <a:cs typeface="Arial"/>
                        </a:rPr>
                        <a:t>7/92</a:t>
                      </a:r>
                    </a:p>
                  </a:txBody>
                  <a:tcPr marL="91440" marR="91440" marT="45720" marB="45720">
                    <a:solidFill>
                      <a:srgbClr val="F7F9FB"/>
                    </a:solidFill>
                  </a:tcPr>
                </a:tc>
                <a:tc>
                  <a:txBody>
                    <a:bodyPr/>
                    <a:lstStyle/>
                    <a:p>
                      <a:r>
                        <a:rPr sz="2025" b="0">
                          <a:solidFill>
                            <a:srgbClr val="102539"/>
                          </a:solidFill>
                          <a:latin typeface="Arial"/>
                          <a:ea typeface="Arial"/>
                          <a:cs typeface="Arial"/>
                        </a:rPr>
                        <a:t>8/92</a:t>
                      </a:r>
                    </a:p>
                  </a:txBody>
                  <a:tcPr marL="91440" marR="91440" marT="45720" marB="45720">
                    <a:solidFill>
                      <a:srgbClr val="F7F9FB"/>
                    </a:solidFill>
                  </a:tcPr>
                </a:tc>
              </a:tr>
              <a:tr h="571500">
                <a:tc>
                  <a:txBody>
                    <a:bodyPr/>
                    <a:lstStyle/>
                    <a:p>
                      <a:r>
                        <a:rPr sz="2025" b="1">
                          <a:solidFill>
                            <a:srgbClr val="102539"/>
                          </a:solidFill>
                          <a:latin typeface="Arial"/>
                          <a:ea typeface="Arial"/>
                          <a:cs typeface="Arial"/>
                        </a:rPr>
                        <a:t>Rollback events</a:t>
                      </a:r>
                    </a:p>
                  </a:txBody>
                  <a:tcPr marL="91440" marR="91440" marT="45720" marB="45720">
                    <a:solidFill>
                      <a:srgbClr val="EEF3F6"/>
                    </a:solidFill>
                  </a:tcPr>
                </a:tc>
                <a:tc>
                  <a:txBody>
                    <a:bodyPr/>
                    <a:lstStyle/>
                    <a:p>
                      <a:r>
                        <a:rPr sz="2025" b="0">
                          <a:solidFill>
                            <a:srgbClr val="102539"/>
                          </a:solidFill>
                          <a:latin typeface="Arial"/>
                          <a:ea typeface="Arial"/>
                          <a:cs typeface="Arial"/>
                        </a:rPr>
                        <a:t>0</a:t>
                      </a:r>
                    </a:p>
                  </a:txBody>
                  <a:tcPr marL="91440" marR="91440" marT="45720" marB="45720">
                    <a:solidFill>
                      <a:srgbClr val="EEF3F6"/>
                    </a:solidFill>
                  </a:tcPr>
                </a:tc>
                <a:tc>
                  <a:txBody>
                    <a:bodyPr/>
                    <a:lstStyle/>
                    <a:p>
                      <a:r>
                        <a:rPr sz="2025" b="0">
                          <a:solidFill>
                            <a:srgbClr val="102539"/>
                          </a:solidFill>
                          <a:latin typeface="Arial"/>
                          <a:ea typeface="Arial"/>
                          <a:cs typeface="Arial"/>
                        </a:rPr>
                        <a:t>50</a:t>
                      </a:r>
                    </a:p>
                  </a:txBody>
                  <a:tcPr marL="91440" marR="91440" marT="45720" marB="45720">
                    <a:solidFill>
                      <a:srgbClr val="EEF3F6"/>
                    </a:solidFill>
                  </a:tcPr>
                </a:tc>
                <a:tc>
                  <a:txBody>
                    <a:bodyPr/>
                    <a:lstStyle/>
                    <a:p>
                      <a:r>
                        <a:rPr sz="2025" b="0">
                          <a:solidFill>
                            <a:srgbClr val="102539"/>
                          </a:solidFill>
                          <a:latin typeface="Arial"/>
                          <a:ea typeface="Arial"/>
                          <a:cs typeface="Arial"/>
                        </a:rPr>
                        <a:t>51</a:t>
                      </a:r>
                    </a:p>
                  </a:txBody>
                  <a:tcPr marL="91440" marR="91440" marT="45720" marB="45720">
                    <a:solidFill>
                      <a:srgbClr val="EEF3F6"/>
                    </a:solidFill>
                  </a:tcPr>
                </a:tc>
              </a:tr>
            </a:tbl>
          </a:graphicData>
        </a:graphic>
      </p:graphicFrame>
      <p:sp>
        <p:nvSpPr>
          <p:cNvPr id="6" name="">
            <a:extLst xmlns:a="http://schemas.openxmlformats.org/drawingml/2006/main">
              <a:ext uri="{FF2B5EF4-FFF2-40B4-BE49-F238E27FC236}">
                <a16:creationId xmlns:a16="http://schemas.microsoft.com/office/drawing/2014/main" id="{8B38672F-5228-45B1-B351-D926A7201943}"/>
              </a:ext>
            </a:extLst>
          </p:cNvPr>
          <p:cNvSpPr>
            <a:spLocks xmlns:a="http://schemas.openxmlformats.org/drawingml/2006/main" noGrp="1"/>
          </p:cNvSpPr>
          <p:nvPr/>
        </p:nvSpPr>
        <p:spPr>
          <a:xfrm xmlns:a="http://schemas.openxmlformats.org/drawingml/2006/main">
            <a:off x="685800" y="5676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477"/>
                </a:solidFill>
                <a:latin typeface="Arial"/>
                <a:ea typeface="Arial"/>
                <a:cs typeface="Arial"/>
              </a:defRPr>
            </a:pPr>
            <a:r>
              <a:rPr sz="1725" b="0">
                <a:solidFill>
                  <a:srgbClr val="506477"/>
                </a:solidFill>
                <a:latin typeface="Arial"/>
                <a:ea typeface="Arial"/>
                <a:cs typeface="Arial"/>
              </a:rPr>
              <a:t>Hidden observed delay, separate cohort.</a:t>
            </a:r>
          </a:p>
          <a:p xmlns:a="http://schemas.openxmlformats.org/drawingml/2006/main">
            <a:pPr>
              <a:defRPr sz="1725" b="0">
                <a:solidFill>
                  <a:srgbClr val="506477"/>
                </a:solidFill>
                <a:latin typeface="Arial"/>
                <a:ea typeface="Arial"/>
                <a:cs typeface="Arial"/>
              </a:defRPr>
            </a:pPr>
            <a:r>
              <a:rPr sz="1725" b="0">
                <a:solidFill>
                  <a:srgbClr val="506477"/>
                </a:solidFill>
                <a:latin typeface="Arial"/>
                <a:ea typeface="Arial"/>
                <a:cs typeface="Arial"/>
              </a:rPr>
              <a:t>Rollback cannot guarantee sustained recovery.</a:t>
            </a:r>
          </a:p>
        </p:txBody>
      </p:sp>
    </p:spTree>
    <p:extLst>
      <p:ext uri="{BB962C8B-B14F-4D97-AF65-F5344CB8AC3E}">
        <p14:creationId xmlns:p14="http://schemas.microsoft.com/office/powerpoint/2010/main" val="1805147135"/>
      </p:ext>
    </p:extLst>
  </p:cSld>
</p:sld>
</file>

<file path=ppt/slides/slide8.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2D816D8-D9A3-4779-9B9C-69ADC7B72BB6}"/>
              </a:ext>
            </a:extLst>
          </p:cNvPr>
          <p:cNvSpPr>
            <a:spLocks xmlns:a="http://schemas.openxmlformats.org/drawingml/2006/main" noGrp="1"/>
          </p:cNvSpPr>
          <p:nvPr/>
        </p:nvSpPr>
        <p:spPr>
          <a:xfrm xmlns:a="http://schemas.openxmlformats.org/drawingml/2006/main">
            <a:off x="685800" y="26670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6F77"/>
                </a:solidFill>
                <a:latin typeface="Arial"/>
                <a:ea typeface="Arial"/>
                <a:cs typeface="Arial"/>
              </a:defRPr>
            </a:pPr>
            <a:r>
              <a:rPr sz="1350" b="1">
                <a:solidFill>
                  <a:srgbClr val="006F77"/>
                </a:solidFill>
                <a:latin typeface="Arial"/>
                <a:ea typeface="Arial"/>
                <a:cs typeface="Arial"/>
              </a:rPr>
              <a:t>NETHEAL  /  NC-04</a:t>
            </a:r>
          </a:p>
        </p:txBody>
      </p:sp>
      <p:sp>
        <p:nvSpPr>
          <p:cNvPr id="2" name="">
            <a:extLst xmlns:a="http://schemas.openxmlformats.org/drawingml/2006/main">
              <a:ext uri="{FF2B5EF4-FFF2-40B4-BE49-F238E27FC236}">
                <a16:creationId xmlns:a16="http://schemas.microsoft.com/office/drawing/2014/main" id="{61BDB74B-7049-4B22-8255-8015BC8AA6F5}"/>
              </a:ext>
            </a:extLst>
          </p:cNvPr>
          <p:cNvSpPr>
            <a:spLocks xmlns:a="http://schemas.openxmlformats.org/drawingml/2006/main" noGrp="1"/>
          </p:cNvSpPr>
          <p:nvPr/>
        </p:nvSpPr>
        <p:spPr>
          <a:xfrm xmlns:a="http://schemas.openxmlformats.org/drawingml/2006/main">
            <a:off x="685800" y="7620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539"/>
                </a:solidFill>
                <a:latin typeface="Arial"/>
                <a:ea typeface="Arial"/>
                <a:cs typeface="Arial"/>
              </a:defRPr>
            </a:pPr>
            <a:r>
              <a:rPr sz="3450" b="1">
                <a:solidFill>
                  <a:srgbClr val="102539"/>
                </a:solidFill>
                <a:latin typeface="Arial"/>
                <a:ea typeface="Arial"/>
                <a:cs typeface="Arial"/>
              </a:rPr>
              <a:t>Scope and next validation</a:t>
            </a:r>
          </a:p>
        </p:txBody>
      </p:sp>
      <p:sp>
        <p:nvSpPr>
          <p:cNvPr id="3" name="">
            <a:extLst xmlns:a="http://schemas.openxmlformats.org/drawingml/2006/main">
              <a:ext uri="{FF2B5EF4-FFF2-40B4-BE49-F238E27FC236}">
                <a16:creationId xmlns:a16="http://schemas.microsoft.com/office/drawing/2014/main" id="{036F8DB7-E7EB-493B-A6D8-42620E383DF7}"/>
              </a:ext>
            </a:extLst>
          </p:cNvPr>
          <p:cNvSpPr>
            <a:spLocks xmlns:a="http://schemas.openxmlformats.org/drawingml/2006/main" noGrp="1"/>
          </p:cNvSpPr>
          <p:nvPr/>
        </p:nvSpPr>
        <p:spPr>
          <a:xfrm xmlns:a="http://schemas.openxmlformats.org/drawingml/2006/main">
            <a:off x="685800" y="16954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477"/>
                </a:solidFill>
                <a:latin typeface="Arial"/>
                <a:ea typeface="Arial"/>
                <a:cs typeface="Arial"/>
              </a:defRPr>
            </a:pPr>
            <a:r>
              <a:rPr sz="1950" b="0">
                <a:solidFill>
                  <a:srgbClr val="506477"/>
                </a:solidFill>
                <a:latin typeface="Arial"/>
                <a:ea typeface="Arial"/>
                <a:cs typeface="Arial"/>
              </a:rPr>
              <a:t>A tested simulation with visible limits</a:t>
            </a:r>
          </a:p>
        </p:txBody>
      </p:sp>
      <p:sp>
        <p:nvSpPr>
          <p:cNvPr id="4" name="">
            <a:extLst xmlns:a="http://schemas.openxmlformats.org/drawingml/2006/main">
              <a:ext uri="{FF2B5EF4-FFF2-40B4-BE49-F238E27FC236}">
                <a16:creationId xmlns:a16="http://schemas.microsoft.com/office/drawing/2014/main" id="{A8C62BEF-FB8B-49D5-9DB9-33D941A38024}"/>
              </a:ext>
            </a:extLst>
          </p:cNvPr>
          <p:cNvSpPr>
            <a:spLocks xmlns:a="http://schemas.openxmlformats.org/drawingml/2006/main" noGrp="1"/>
          </p:cNvSpPr>
          <p:nvPr/>
        </p:nvSpPr>
        <p:spPr>
          <a:xfrm xmlns:a="http://schemas.openxmlformats.org/drawingml/2006/main">
            <a:off x="10953750" y="63341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477"/>
                </a:solidFill>
                <a:latin typeface="Arial"/>
                <a:ea typeface="Arial"/>
                <a:cs typeface="Arial"/>
              </a:defRPr>
            </a:pPr>
            <a:r>
              <a:rPr sz="1350" b="0">
                <a:solidFill>
                  <a:srgbClr val="506477"/>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D8DB5D2E-D267-4BF8-8CFC-F1B83ED75943}"/>
              </a:ext>
            </a:extLst>
          </p:cNvPr>
          <p:cNvSpPr>
            <a:spLocks xmlns:a="http://schemas.openxmlformats.org/drawingml/2006/main" noGrp="1"/>
          </p:cNvSpPr>
          <p:nvPr/>
        </p:nvSpPr>
        <p:spPr>
          <a:xfrm xmlns:a="http://schemas.openxmlformats.org/drawingml/2006/main">
            <a:off x="685800" y="2552700"/>
            <a:ext cx="304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6F77"/>
                </a:solidFill>
                <a:latin typeface="Arial"/>
                <a:ea typeface="Arial"/>
                <a:cs typeface="Arial"/>
              </a:defRPr>
            </a:pPr>
            <a:r>
              <a:rPr sz="2250" b="1">
                <a:solidFill>
                  <a:srgbClr val="006F77"/>
                </a:solidFill>
                <a:latin typeface="Arial"/>
                <a:ea typeface="Arial"/>
                <a:cs typeface="Arial"/>
              </a:rPr>
              <a:t>Demonstrated</a:t>
            </a:r>
          </a:p>
        </p:txBody>
      </p:sp>
      <p:sp>
        <p:nvSpPr>
          <p:cNvPr id="6" name="">
            <a:extLst xmlns:a="http://schemas.openxmlformats.org/drawingml/2006/main">
              <a:ext uri="{FF2B5EF4-FFF2-40B4-BE49-F238E27FC236}">
                <a16:creationId xmlns:a16="http://schemas.microsoft.com/office/drawing/2014/main" id="{B23E260A-3321-419D-859C-16C0BFC5E6CF}"/>
              </a:ext>
            </a:extLst>
          </p:cNvPr>
          <p:cNvSpPr>
            <a:spLocks xmlns:a="http://schemas.openxmlformats.org/drawingml/2006/main" noGrp="1"/>
          </p:cNvSpPr>
          <p:nvPr/>
        </p:nvSpPr>
        <p:spPr>
          <a:xfrm xmlns:a="http://schemas.openxmlformats.org/drawingml/2006/main">
            <a:off x="3943350" y="2552700"/>
            <a:ext cx="7562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539"/>
                </a:solidFill>
                <a:latin typeface="Arial"/>
                <a:ea typeface="Arial"/>
                <a:cs typeface="Arial"/>
              </a:defRPr>
            </a:pPr>
            <a:r>
              <a:rPr sz="2100" b="0">
                <a:solidFill>
                  <a:srgbClr val="102539"/>
                </a:solidFill>
                <a:latin typeface="Arial"/>
                <a:ea typeface="Arial"/>
                <a:cs typeface="Arial"/>
              </a:rPr>
              <a:t>Detection → supported diagnosis → guarded repair → evidence</a:t>
            </a:r>
          </a:p>
        </p:txBody>
      </p:sp>
      <p:sp>
        <p:nvSpPr>
          <p:cNvPr id="7" name="">
            <a:extLst xmlns:a="http://schemas.openxmlformats.org/drawingml/2006/main">
              <a:ext uri="{FF2B5EF4-FFF2-40B4-BE49-F238E27FC236}">
                <a16:creationId xmlns:a16="http://schemas.microsoft.com/office/drawing/2014/main" id="{B3782642-74F0-4BBF-B2F6-4A19822F1A30}"/>
              </a:ext>
            </a:extLst>
          </p:cNvPr>
          <p:cNvSpPr>
            <a:spLocks xmlns:a="http://schemas.openxmlformats.org/drawingml/2006/main" noGrp="1"/>
          </p:cNvSpPr>
          <p:nvPr/>
        </p:nvSpPr>
        <p:spPr>
          <a:xfrm xmlns:a="http://schemas.openxmlformats.org/drawingml/2006/main">
            <a:off x="685800" y="3657600"/>
            <a:ext cx="304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6F77"/>
                </a:solidFill>
                <a:latin typeface="Arial"/>
                <a:ea typeface="Arial"/>
                <a:cs typeface="Arial"/>
              </a:defRPr>
            </a:pPr>
            <a:r>
              <a:rPr sz="2250" b="1">
                <a:solidFill>
                  <a:srgbClr val="006F77"/>
                </a:solidFill>
                <a:latin typeface="Arial"/>
                <a:ea typeface="Arial"/>
                <a:cs typeface="Arial"/>
              </a:rPr>
              <a:t>Bounded claims</a:t>
            </a:r>
          </a:p>
        </p:txBody>
      </p:sp>
      <p:sp>
        <p:nvSpPr>
          <p:cNvPr id="8" name="">
            <a:extLst xmlns:a="http://schemas.openxmlformats.org/drawingml/2006/main">
              <a:ext uri="{FF2B5EF4-FFF2-40B4-BE49-F238E27FC236}">
                <a16:creationId xmlns:a16="http://schemas.microsoft.com/office/drawing/2014/main" id="{D4383718-9EF8-4E54-BEF1-FAB18D6918EA}"/>
              </a:ext>
            </a:extLst>
          </p:cNvPr>
          <p:cNvSpPr>
            <a:spLocks xmlns:a="http://schemas.openxmlformats.org/drawingml/2006/main" noGrp="1"/>
          </p:cNvSpPr>
          <p:nvPr/>
        </p:nvSpPr>
        <p:spPr>
          <a:xfrm xmlns:a="http://schemas.openxmlformats.org/drawingml/2006/main">
            <a:off x="3943350" y="3657600"/>
            <a:ext cx="7562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539"/>
                </a:solidFill>
                <a:latin typeface="Arial"/>
                <a:ea typeface="Arial"/>
                <a:cs typeface="Arial"/>
              </a:defRPr>
            </a:pPr>
            <a:r>
              <a:rPr sz="2100" b="0">
                <a:solidFill>
                  <a:srgbClr val="102539"/>
                </a:solidFill>
                <a:latin typeface="Arial"/>
                <a:ea typeface="Arial"/>
                <a:cs typeface="Arial"/>
              </a:rPr>
              <a:t>One campus model; heuristic scores; shared nominal physics</a:t>
            </a:r>
          </a:p>
        </p:txBody>
      </p:sp>
      <p:sp>
        <p:nvSpPr>
          <p:cNvPr id="9" name="">
            <a:extLst xmlns:a="http://schemas.openxmlformats.org/drawingml/2006/main">
              <a:ext uri="{FF2B5EF4-FFF2-40B4-BE49-F238E27FC236}">
                <a16:creationId xmlns:a16="http://schemas.microsoft.com/office/drawing/2014/main" id="{A5BA022F-BB68-41F5-9137-1899E61A1284}"/>
              </a:ext>
            </a:extLst>
          </p:cNvPr>
          <p:cNvSpPr>
            <a:spLocks xmlns:a="http://schemas.openxmlformats.org/drawingml/2006/main" noGrp="1"/>
          </p:cNvSpPr>
          <p:nvPr/>
        </p:nvSpPr>
        <p:spPr>
          <a:xfrm xmlns:a="http://schemas.openxmlformats.org/drawingml/2006/main">
            <a:off x="685800" y="4762500"/>
            <a:ext cx="304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6F77"/>
                </a:solidFill>
                <a:latin typeface="Arial"/>
                <a:ea typeface="Arial"/>
                <a:cs typeface="Arial"/>
              </a:defRPr>
            </a:pPr>
            <a:r>
              <a:rPr sz="2250" b="1">
                <a:solidFill>
                  <a:srgbClr val="006F77"/>
                </a:solidFill>
                <a:latin typeface="Arial"/>
                <a:ea typeface="Arial"/>
                <a:cs typeface="Arial"/>
              </a:rPr>
              <a:t>LLM boundary</a:t>
            </a:r>
          </a:p>
        </p:txBody>
      </p:sp>
      <p:sp>
        <p:nvSpPr>
          <p:cNvPr id="10" name="">
            <a:extLst xmlns:a="http://schemas.openxmlformats.org/drawingml/2006/main">
              <a:ext uri="{FF2B5EF4-FFF2-40B4-BE49-F238E27FC236}">
                <a16:creationId xmlns:a16="http://schemas.microsoft.com/office/drawing/2014/main" id="{964AF9EF-7313-4599-89DE-F64EE1DDC2E2}"/>
              </a:ext>
            </a:extLst>
          </p:cNvPr>
          <p:cNvSpPr>
            <a:spLocks xmlns:a="http://schemas.openxmlformats.org/drawingml/2006/main" noGrp="1"/>
          </p:cNvSpPr>
          <p:nvPr/>
        </p:nvSpPr>
        <p:spPr>
          <a:xfrm xmlns:a="http://schemas.openxmlformats.org/drawingml/2006/main">
            <a:off x="3943350" y="4762500"/>
            <a:ext cx="7562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539"/>
                </a:solidFill>
                <a:latin typeface="Arial"/>
                <a:ea typeface="Arial"/>
                <a:cs typeface="Arial"/>
              </a:defRPr>
            </a:pPr>
            <a:r>
              <a:rPr sz="2100" b="0">
                <a:solidFill>
                  <a:srgbClr val="102539"/>
                </a:solidFill>
                <a:latin typeface="Arial"/>
                <a:ea typeface="Arial"/>
                <a:cs typeface="Arial"/>
              </a:rPr>
              <a:t>Read-only explanation and reporting; offline templates</a:t>
            </a:r>
          </a:p>
        </p:txBody>
      </p:sp>
    </p:spTree>
    <p:extLst>
      <p:ext uri="{BB962C8B-B14F-4D97-AF65-F5344CB8AC3E}">
        <p14:creationId xmlns:p14="http://schemas.microsoft.com/office/powerpoint/2010/main" val="21135490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2026-10-07T07:19:54.9000000Z</dcterms:created>
  <dcterms:modified xsi:type="dcterms:W3CDTF">2026-10-07T07:19:54.9000000Z</dcterms:modified>
</coreProperties>
</file>